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379" r:id="rId2"/>
    <p:sldId id="449" r:id="rId3"/>
    <p:sldId id="394" r:id="rId4"/>
    <p:sldId id="401" r:id="rId5"/>
    <p:sldId id="438" r:id="rId6"/>
    <p:sldId id="440" r:id="rId7"/>
    <p:sldId id="445" r:id="rId8"/>
    <p:sldId id="441" r:id="rId9"/>
    <p:sldId id="442" r:id="rId10"/>
    <p:sldId id="447" r:id="rId11"/>
    <p:sldId id="448" r:id="rId12"/>
    <p:sldId id="443" r:id="rId13"/>
    <p:sldId id="444" r:id="rId14"/>
    <p:sldId id="432" r:id="rId15"/>
    <p:sldId id="400" r:id="rId16"/>
  </p:sldIdLst>
  <p:sldSz cx="12192000" cy="6858000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4D2AA7-AAC5-4442-ADC8-131BCC65D2C5}" v="24" dt="2026-04-27T17:31:54.6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973A30-4E8D-4F5A-A660-0CF9FA0EA0C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223E4C-C78F-4806-9F29-9550DE44B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018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223E4C-C78F-4806-9F29-9550DE44BB40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590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95310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002060"/>
                </a:solidFill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C0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99E61-0CE5-49A0-ADAE-575C3A21A57B}" type="datetime2">
              <a:rPr lang="en-IN" smtClean="0"/>
              <a:t>Thursday, 04 June 2026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object 7"/>
          <p:cNvSpPr txBox="1"/>
          <p:nvPr userDrawn="1"/>
        </p:nvSpPr>
        <p:spPr>
          <a:xfrm>
            <a:off x="4541263" y="6344368"/>
            <a:ext cx="3498933" cy="377108"/>
          </a:xfrm>
          <a:prstGeom prst="rect">
            <a:avLst/>
          </a:prstGeom>
        </p:spPr>
        <p:txBody>
          <a:bodyPr wrap="square" lIns="0" tIns="7701" rIns="0" bIns="0">
            <a:spAutoFit/>
          </a:bodyPr>
          <a:lstStyle/>
          <a:p>
            <a:pPr marL="7701" algn="ctr">
              <a:spcBef>
                <a:spcPts val="61"/>
              </a:spcBef>
              <a:defRPr/>
            </a:pPr>
            <a:r>
              <a:rPr sz="2400" b="1" i="1" spc="-3">
                <a:solidFill>
                  <a:srgbClr val="422C75"/>
                </a:solidFill>
                <a:latin typeface="Bookman Old Style" panose="02050604050505020204" pitchFamily="18" charset="0"/>
                <a:ea typeface="ＭＳ Ｐゴシック" charset="0"/>
                <a:cs typeface="Playfair Display"/>
              </a:rPr>
              <a:t>Go, change </a:t>
            </a:r>
            <a:r>
              <a:rPr sz="2400" b="1" i="1">
                <a:solidFill>
                  <a:srgbClr val="422C75"/>
                </a:solidFill>
                <a:latin typeface="Bookman Old Style" panose="02050604050505020204" pitchFamily="18" charset="0"/>
                <a:ea typeface="ＭＳ Ｐゴシック" charset="0"/>
                <a:cs typeface="Playfair Display"/>
              </a:rPr>
              <a:t>the</a:t>
            </a:r>
            <a:r>
              <a:rPr sz="2400" b="1" i="1" spc="-49">
                <a:solidFill>
                  <a:srgbClr val="422C75"/>
                </a:solidFill>
                <a:latin typeface="Bookman Old Style" panose="02050604050505020204" pitchFamily="18" charset="0"/>
                <a:ea typeface="ＭＳ Ｐゴシック" charset="0"/>
                <a:cs typeface="Playfair Display"/>
              </a:rPr>
              <a:t> </a:t>
            </a:r>
            <a:r>
              <a:rPr sz="2400" b="1" i="1" spc="-3">
                <a:solidFill>
                  <a:srgbClr val="422C75"/>
                </a:solidFill>
                <a:latin typeface="Bookman Old Style" panose="02050604050505020204" pitchFamily="18" charset="0"/>
                <a:ea typeface="ＭＳ Ｐゴシック" charset="0"/>
                <a:cs typeface="Playfair Display"/>
              </a:rPr>
              <a:t>world</a:t>
            </a:r>
            <a:endParaRPr sz="2400" b="1">
              <a:latin typeface="Bookman Old Style" panose="02050604050505020204" pitchFamily="18" charset="0"/>
              <a:ea typeface="ＭＳ Ｐゴシック" charset="0"/>
              <a:cs typeface="Playfair Display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32A6D4B-382C-5C68-3C64-26E14200A1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3833"/>
          <a:stretch/>
        </p:blipFill>
        <p:spPr>
          <a:xfrm>
            <a:off x="0" y="0"/>
            <a:ext cx="2207505" cy="99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531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813" y="1258282"/>
            <a:ext cx="11842377" cy="4918680"/>
          </a:xfrm>
          <a:ln>
            <a:noFill/>
          </a:ln>
        </p:spPr>
        <p:txBody>
          <a:bodyPr/>
          <a:lstStyle>
            <a:lvl1pPr>
              <a:defRPr>
                <a:solidFill>
                  <a:srgbClr val="002060"/>
                </a:solidFill>
                <a:latin typeface="Bookman Old Style" panose="02050604050505020204" pitchFamily="18" charset="0"/>
              </a:defRPr>
            </a:lvl1pPr>
            <a:lvl2pPr>
              <a:defRPr>
                <a:latin typeface="Bookman Old Style" panose="02050604050505020204" pitchFamily="18" charset="0"/>
              </a:defRPr>
            </a:lvl2pPr>
            <a:lvl3pPr>
              <a:defRPr>
                <a:solidFill>
                  <a:srgbClr val="002060"/>
                </a:solidFill>
                <a:latin typeface="Bookman Old Style" panose="02050604050505020204" pitchFamily="18" charset="0"/>
              </a:defRPr>
            </a:lvl3pPr>
            <a:lvl4pPr>
              <a:defRPr>
                <a:solidFill>
                  <a:srgbClr val="002060"/>
                </a:solidFill>
                <a:latin typeface="Bookman Old Style" panose="02050604050505020204" pitchFamily="18" charset="0"/>
              </a:defRPr>
            </a:lvl4pPr>
            <a:lvl5pPr>
              <a:defRPr>
                <a:solidFill>
                  <a:srgbClr val="002060"/>
                </a:solidFill>
                <a:latin typeface="Bookman Old Style" panose="02050604050505020204" pitchFamily="18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3" name="object 7"/>
          <p:cNvSpPr txBox="1"/>
          <p:nvPr userDrawn="1"/>
        </p:nvSpPr>
        <p:spPr>
          <a:xfrm>
            <a:off x="5055596" y="6405140"/>
            <a:ext cx="2080806" cy="223220"/>
          </a:xfrm>
          <a:prstGeom prst="rect">
            <a:avLst/>
          </a:prstGeom>
        </p:spPr>
        <p:txBody>
          <a:bodyPr wrap="square" lIns="0" tIns="7701" rIns="0" bIns="0">
            <a:spAutoFit/>
          </a:bodyPr>
          <a:lstStyle/>
          <a:p>
            <a:pPr marL="7701" algn="ctr">
              <a:spcBef>
                <a:spcPts val="61"/>
              </a:spcBef>
              <a:defRPr/>
            </a:pPr>
            <a:r>
              <a:rPr sz="1400" b="1" i="1" spc="-3">
                <a:solidFill>
                  <a:srgbClr val="422C75"/>
                </a:solidFill>
                <a:latin typeface="Bookman Old Style" panose="02050604050505020204" pitchFamily="18" charset="0"/>
                <a:ea typeface="ＭＳ Ｐゴシック" charset="0"/>
                <a:cs typeface="Playfair Display"/>
              </a:rPr>
              <a:t>Go, change </a:t>
            </a:r>
            <a:r>
              <a:rPr sz="1400" b="1" i="1">
                <a:solidFill>
                  <a:srgbClr val="422C75"/>
                </a:solidFill>
                <a:latin typeface="Bookman Old Style" panose="02050604050505020204" pitchFamily="18" charset="0"/>
                <a:ea typeface="ＭＳ Ｐゴシック" charset="0"/>
                <a:cs typeface="Playfair Display"/>
              </a:rPr>
              <a:t>the</a:t>
            </a:r>
            <a:r>
              <a:rPr sz="1400" b="1" i="1" spc="-49">
                <a:solidFill>
                  <a:srgbClr val="422C75"/>
                </a:solidFill>
                <a:latin typeface="Bookman Old Style" panose="02050604050505020204" pitchFamily="18" charset="0"/>
                <a:ea typeface="ＭＳ Ｐゴシック" charset="0"/>
                <a:cs typeface="Playfair Display"/>
              </a:rPr>
              <a:t> </a:t>
            </a:r>
            <a:r>
              <a:rPr sz="1400" b="1" i="1" spc="-3">
                <a:solidFill>
                  <a:srgbClr val="422C75"/>
                </a:solidFill>
                <a:latin typeface="Bookman Old Style" panose="02050604050505020204" pitchFamily="18" charset="0"/>
                <a:ea typeface="ＭＳ Ｐゴシック" charset="0"/>
                <a:cs typeface="Playfair Display"/>
              </a:rPr>
              <a:t>world</a:t>
            </a:r>
            <a:endParaRPr sz="1400" b="1">
              <a:latin typeface="Bookman Old Style" panose="02050604050505020204" pitchFamily="18" charset="0"/>
              <a:ea typeface="ＭＳ Ｐゴシック" charset="0"/>
              <a:cs typeface="Playfair Display"/>
            </a:endParaRP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174812" y="6347205"/>
            <a:ext cx="2743200" cy="365125"/>
          </a:xfrm>
        </p:spPr>
        <p:txBody>
          <a:bodyPr/>
          <a:lstStyle>
            <a:lvl1pPr>
              <a:defRPr b="1">
                <a:solidFill>
                  <a:srgbClr val="002060"/>
                </a:solidFill>
                <a:latin typeface="Bookman Old Style" panose="02050604050505020204" pitchFamily="18" charset="0"/>
              </a:defRPr>
            </a:lvl1pPr>
          </a:lstStyle>
          <a:p>
            <a:pPr algn="ctr"/>
            <a:fld id="{6BA3F8B8-C75C-44FF-9C37-B9B69285372F}" type="datetime2">
              <a:rPr lang="en-IN" smtClean="0"/>
              <a:t>Thursday, 04 June 2026</a:t>
            </a:fld>
            <a:endParaRPr lang="en-IN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9273988" y="6347205"/>
            <a:ext cx="2743200" cy="365125"/>
          </a:xfrm>
        </p:spPr>
        <p:txBody>
          <a:bodyPr/>
          <a:lstStyle>
            <a:lvl1pPr>
              <a:defRPr b="1">
                <a:solidFill>
                  <a:srgbClr val="002060"/>
                </a:solidFill>
                <a:latin typeface="Bookman Old Style" panose="02050604050505020204" pitchFamily="18" charset="0"/>
              </a:defRPr>
            </a:lvl1pPr>
          </a:lstStyle>
          <a:p>
            <a:fld id="{9BA15CD2-76D6-4EFE-91D9-7087332E331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54BB44-0752-FBF4-85E9-6BB716BF44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3833"/>
          <a:stretch/>
        </p:blipFill>
        <p:spPr>
          <a:xfrm>
            <a:off x="-1" y="76427"/>
            <a:ext cx="2207505" cy="99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647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8942" y="1258282"/>
            <a:ext cx="5750859" cy="49186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2" y="1258280"/>
            <a:ext cx="5795682" cy="49186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68940" y="6356350"/>
            <a:ext cx="2743200" cy="365125"/>
          </a:xfrm>
        </p:spPr>
        <p:txBody>
          <a:bodyPr/>
          <a:lstStyle/>
          <a:p>
            <a:fld id="{1B8ABF7C-0B56-4C7F-B575-109DA1438369}" type="datetime2">
              <a:rPr lang="en-IN" smtClean="0"/>
              <a:t>Thursday, 04 June 2026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224683" y="6356350"/>
            <a:ext cx="2743200" cy="365125"/>
          </a:xfrm>
        </p:spPr>
        <p:txBody>
          <a:bodyPr/>
          <a:lstStyle/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4862837" y="6212514"/>
            <a:ext cx="2313924" cy="600635"/>
            <a:chOff x="9682912" y="8965"/>
            <a:chExt cx="2402541" cy="600635"/>
          </a:xfrm>
        </p:grpSpPr>
        <p:sp>
          <p:nvSpPr>
            <p:cNvPr id="13" name="Rounded Rectangle 12"/>
            <p:cNvSpPr/>
            <p:nvPr userDrawn="1"/>
          </p:nvSpPr>
          <p:spPr>
            <a:xfrm>
              <a:off x="9682912" y="8965"/>
              <a:ext cx="2402541" cy="600635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>
                <a:latin typeface="+mj-lt"/>
              </a:endParaRPr>
            </a:p>
          </p:txBody>
        </p:sp>
        <p:sp>
          <p:nvSpPr>
            <p:cNvPr id="14" name="object 7"/>
            <p:cNvSpPr txBox="1"/>
            <p:nvPr userDrawn="1"/>
          </p:nvSpPr>
          <p:spPr>
            <a:xfrm>
              <a:off x="9803934" y="193190"/>
              <a:ext cx="2160495" cy="223220"/>
            </a:xfrm>
            <a:prstGeom prst="rect">
              <a:avLst/>
            </a:prstGeom>
          </p:spPr>
          <p:txBody>
            <a:bodyPr wrap="square" lIns="0" tIns="7701" rIns="0" bIns="0">
              <a:spAutoFit/>
            </a:bodyPr>
            <a:lstStyle/>
            <a:p>
              <a:pPr marL="7701" algn="ctr">
                <a:spcBef>
                  <a:spcPts val="61"/>
                </a:spcBef>
                <a:defRPr/>
              </a:pPr>
              <a:r>
                <a:rPr sz="1400" b="1" i="1" spc="-3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Go, change </a:t>
              </a:r>
              <a:r>
                <a:rPr sz="1400" b="1" i="1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the</a:t>
              </a:r>
              <a:r>
                <a:rPr sz="1400" b="1" i="1" spc="-49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 </a:t>
              </a:r>
              <a:r>
                <a:rPr sz="1400" b="1" i="1" spc="-3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world</a:t>
              </a:r>
              <a:endParaRPr sz="1400" b="1">
                <a:latin typeface="Bookman Old Style" panose="02050604050505020204" pitchFamily="18" charset="0"/>
                <a:ea typeface="ＭＳ Ｐゴシック" charset="0"/>
                <a:cs typeface="Playfair Display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D279472C-35DE-C259-8137-352893A9BE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3833"/>
          <a:stretch/>
        </p:blipFill>
        <p:spPr>
          <a:xfrm>
            <a:off x="224117" y="81266"/>
            <a:ext cx="2207505" cy="99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109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002060"/>
                </a:solidFill>
                <a:latin typeface="Bookman Old Style" panose="020506040505050202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21CB2-2EF3-47E5-83C4-07D8FF657D5A}" type="datetime2">
              <a:rPr lang="en-IN" smtClean="0"/>
              <a:t>Thursday, 04 June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RV COLLEGE OF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13" name="Rounded Rectangle 12"/>
            <p:cNvSpPr/>
            <p:nvPr userDrawn="1"/>
          </p:nvSpPr>
          <p:spPr>
            <a:xfrm>
              <a:off x="9682912" y="8965"/>
              <a:ext cx="2402541" cy="600635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>
                <a:latin typeface="+mj-lt"/>
              </a:endParaRPr>
            </a:p>
          </p:txBody>
        </p:sp>
        <p:sp>
          <p:nvSpPr>
            <p:cNvPr id="14" name="object 7"/>
            <p:cNvSpPr txBox="1"/>
            <p:nvPr userDrawn="1"/>
          </p:nvSpPr>
          <p:spPr>
            <a:xfrm>
              <a:off x="9803934" y="193190"/>
              <a:ext cx="2160495" cy="223220"/>
            </a:xfrm>
            <a:prstGeom prst="rect">
              <a:avLst/>
            </a:prstGeom>
          </p:spPr>
          <p:txBody>
            <a:bodyPr wrap="square" lIns="0" tIns="7701" rIns="0" bIns="0">
              <a:spAutoFit/>
            </a:bodyPr>
            <a:lstStyle/>
            <a:p>
              <a:pPr marL="7701" algn="ctr">
                <a:spcBef>
                  <a:spcPts val="61"/>
                </a:spcBef>
                <a:defRPr/>
              </a:pPr>
              <a:r>
                <a:rPr sz="1400" b="1" i="1" spc="-3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Go, change </a:t>
              </a:r>
              <a:r>
                <a:rPr sz="1400" b="1" i="1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the</a:t>
              </a:r>
              <a:r>
                <a:rPr sz="1400" b="1" i="1" spc="-49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 </a:t>
              </a:r>
              <a:r>
                <a:rPr sz="1400" b="1" i="1" spc="-3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world</a:t>
              </a:r>
              <a:endParaRPr sz="1400" b="1">
                <a:latin typeface="Bookman Old Style" panose="02050604050505020204" pitchFamily="18" charset="0"/>
                <a:ea typeface="ＭＳ Ｐゴシック" charset="0"/>
                <a:cs typeface="Playfair Display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4077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 userDrawn="1"/>
        </p:nvGrpSpPr>
        <p:grpSpPr>
          <a:xfrm>
            <a:off x="-35002" y="0"/>
            <a:ext cx="12191145" cy="6858000"/>
            <a:chOff x="-35003" y="-1"/>
            <a:chExt cx="12191144" cy="6858000"/>
          </a:xfrm>
        </p:grpSpPr>
        <p:sp>
          <p:nvSpPr>
            <p:cNvPr id="11" name="Rectangle 10"/>
            <p:cNvSpPr/>
            <p:nvPr userDrawn="1"/>
          </p:nvSpPr>
          <p:spPr>
            <a:xfrm>
              <a:off x="-35003" y="-1"/>
              <a:ext cx="12191144" cy="6858000"/>
            </a:xfrm>
            <a:prstGeom prst="rect">
              <a:avLst/>
            </a:prstGeom>
            <a:solidFill>
              <a:schemeClr val="lt1">
                <a:alpha val="99000"/>
              </a:schemeClr>
            </a:solidFill>
            <a:ln w="76200">
              <a:solidFill>
                <a:srgbClr val="005893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IN" sz="1092">
                <a:solidFill>
                  <a:srgbClr val="FFFFFF"/>
                </a:solidFill>
              </a:endParaRPr>
            </a:p>
          </p:txBody>
        </p:sp>
        <p:grpSp>
          <p:nvGrpSpPr>
            <p:cNvPr id="12" name="Group 11"/>
            <p:cNvGrpSpPr/>
            <p:nvPr userDrawn="1"/>
          </p:nvGrpSpPr>
          <p:grpSpPr>
            <a:xfrm>
              <a:off x="0" y="-1"/>
              <a:ext cx="1174375" cy="932329"/>
              <a:chOff x="1" y="0"/>
              <a:chExt cx="995082" cy="663388"/>
            </a:xfrm>
          </p:grpSpPr>
          <p:sp>
            <p:nvSpPr>
              <p:cNvPr id="13" name="object 3"/>
              <p:cNvSpPr>
                <a:spLocks/>
              </p:cNvSpPr>
              <p:nvPr userDrawn="1"/>
            </p:nvSpPr>
            <p:spPr bwMode="auto">
              <a:xfrm>
                <a:off x="1" y="0"/>
                <a:ext cx="995082" cy="663388"/>
              </a:xfrm>
              <a:custGeom>
                <a:avLst/>
                <a:gdLst>
                  <a:gd name="T0" fmla="*/ 23708288 w 7436484"/>
                  <a:gd name="T1" fmla="*/ 0 h 5134610"/>
                  <a:gd name="T2" fmla="*/ 0 w 7436484"/>
                  <a:gd name="T3" fmla="*/ 0 h 5134610"/>
                  <a:gd name="T4" fmla="*/ 0 w 7436484"/>
                  <a:gd name="T5" fmla="*/ 16402574 h 5134610"/>
                  <a:gd name="T6" fmla="*/ 23708288 w 7436484"/>
                  <a:gd name="T7" fmla="*/ 0 h 51346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436484"/>
                  <a:gd name="T13" fmla="*/ 0 h 5134610"/>
                  <a:gd name="T14" fmla="*/ 7436484 w 7436484"/>
                  <a:gd name="T15" fmla="*/ 5134610 h 51346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436484" h="5134610">
                    <a:moveTo>
                      <a:pt x="7435941" y="0"/>
                    </a:moveTo>
                    <a:lnTo>
                      <a:pt x="0" y="0"/>
                    </a:lnTo>
                    <a:lnTo>
                      <a:pt x="0" y="5134513"/>
                    </a:lnTo>
                    <a:lnTo>
                      <a:pt x="7435941" y="0"/>
                    </a:lnTo>
                    <a:close/>
                  </a:path>
                </a:pathLst>
              </a:custGeom>
              <a:solidFill>
                <a:srgbClr val="005893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/>
              <a:lstStyle/>
              <a:p>
                <a:endParaRPr lang="en-IN" sz="1092"/>
              </a:p>
            </p:txBody>
          </p:sp>
          <p:sp>
            <p:nvSpPr>
              <p:cNvPr id="14" name="object 4"/>
              <p:cNvSpPr>
                <a:spLocks noChangeArrowheads="1"/>
              </p:cNvSpPr>
              <p:nvPr userDrawn="1"/>
            </p:nvSpPr>
            <p:spPr bwMode="auto">
              <a:xfrm>
                <a:off x="73957" y="36743"/>
                <a:ext cx="383242" cy="310714"/>
              </a:xfrm>
              <a:prstGeom prst="rect">
                <a:avLst/>
              </a:prstGeom>
              <a:blipFill dpi="0" rotWithShape="1">
                <a:blip r:embed="rId2" cstate="print"/>
                <a:srcRect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eaLnBrk="1" hangingPunct="1"/>
                <a:endParaRPr lang="en-US" altLang="en-US" sz="1092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2AF35-25D4-42D1-A380-D94D58C90ED6}" type="datetime2">
              <a:rPr lang="en-IN" smtClean="0"/>
              <a:t>Thursday, 04 June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</a:lstStyle>
          <a:p>
            <a:r>
              <a:rPr lang="en-GB"/>
              <a:t>RV COLLEGE OF ENGINEERING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16" name="Rounded Rectangle 15"/>
            <p:cNvSpPr/>
            <p:nvPr userDrawn="1"/>
          </p:nvSpPr>
          <p:spPr>
            <a:xfrm>
              <a:off x="9682912" y="8965"/>
              <a:ext cx="2402541" cy="600635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>
                <a:latin typeface="+mj-lt"/>
              </a:endParaRPr>
            </a:p>
          </p:txBody>
        </p:sp>
        <p:sp>
          <p:nvSpPr>
            <p:cNvPr id="17" name="object 7"/>
            <p:cNvSpPr txBox="1"/>
            <p:nvPr userDrawn="1"/>
          </p:nvSpPr>
          <p:spPr>
            <a:xfrm>
              <a:off x="9803934" y="193190"/>
              <a:ext cx="2160495" cy="223220"/>
            </a:xfrm>
            <a:prstGeom prst="rect">
              <a:avLst/>
            </a:prstGeom>
          </p:spPr>
          <p:txBody>
            <a:bodyPr wrap="square" lIns="0" tIns="7701" rIns="0" bIns="0">
              <a:spAutoFit/>
            </a:bodyPr>
            <a:lstStyle/>
            <a:p>
              <a:pPr marL="7701" algn="ctr">
                <a:spcBef>
                  <a:spcPts val="61"/>
                </a:spcBef>
                <a:defRPr/>
              </a:pPr>
              <a:r>
                <a:rPr sz="1400" b="1" i="1" spc="-3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Go, change </a:t>
              </a:r>
              <a:r>
                <a:rPr sz="1400" b="1" i="1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the</a:t>
              </a:r>
              <a:r>
                <a:rPr sz="1400" b="1" i="1" spc="-49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 </a:t>
              </a:r>
              <a:r>
                <a:rPr sz="1400" b="1" i="1" spc="-3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world</a:t>
              </a:r>
              <a:endParaRPr sz="1400" b="1">
                <a:latin typeface="Bookman Old Style" panose="02050604050505020204" pitchFamily="18" charset="0"/>
                <a:ea typeface="ＭＳ Ｐゴシック" charset="0"/>
                <a:cs typeface="Playfair Display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92387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856" y="0"/>
            <a:ext cx="12191145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sz="1092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74DEC-F31F-442A-AF7E-39FCF65F09EF}" type="datetime2">
              <a:rPr lang="en-IN" smtClean="0"/>
              <a:t>Thursday, 04 June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RV COLLEGE OF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1"/>
            <a:ext cx="1174375" cy="932329"/>
            <a:chOff x="1" y="0"/>
            <a:chExt cx="995082" cy="663388"/>
          </a:xfrm>
        </p:grpSpPr>
        <p:sp>
          <p:nvSpPr>
            <p:cNvPr id="8" name="object 3"/>
            <p:cNvSpPr>
              <a:spLocks/>
            </p:cNvSpPr>
            <p:nvPr userDrawn="1"/>
          </p:nvSpPr>
          <p:spPr bwMode="auto">
            <a:xfrm>
              <a:off x="1" y="0"/>
              <a:ext cx="995082" cy="663388"/>
            </a:xfrm>
            <a:custGeom>
              <a:avLst/>
              <a:gdLst>
                <a:gd name="T0" fmla="*/ 23708288 w 7436484"/>
                <a:gd name="T1" fmla="*/ 0 h 5134610"/>
                <a:gd name="T2" fmla="*/ 0 w 7436484"/>
                <a:gd name="T3" fmla="*/ 0 h 5134610"/>
                <a:gd name="T4" fmla="*/ 0 w 7436484"/>
                <a:gd name="T5" fmla="*/ 16402574 h 5134610"/>
                <a:gd name="T6" fmla="*/ 23708288 w 7436484"/>
                <a:gd name="T7" fmla="*/ 0 h 513461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36484"/>
                <a:gd name="T13" fmla="*/ 0 h 5134610"/>
                <a:gd name="T14" fmla="*/ 7436484 w 7436484"/>
                <a:gd name="T15" fmla="*/ 5134610 h 513461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36484" h="5134610">
                  <a:moveTo>
                    <a:pt x="7435941" y="0"/>
                  </a:moveTo>
                  <a:lnTo>
                    <a:pt x="0" y="0"/>
                  </a:lnTo>
                  <a:lnTo>
                    <a:pt x="0" y="5134513"/>
                  </a:lnTo>
                  <a:lnTo>
                    <a:pt x="7435941" y="0"/>
                  </a:lnTo>
                  <a:close/>
                </a:path>
              </a:pathLst>
            </a:custGeom>
            <a:solidFill>
              <a:srgbClr val="005893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IN" sz="1092"/>
            </a:p>
          </p:txBody>
        </p:sp>
        <p:sp>
          <p:nvSpPr>
            <p:cNvPr id="9" name="object 4"/>
            <p:cNvSpPr>
              <a:spLocks noChangeArrowheads="1"/>
            </p:cNvSpPr>
            <p:nvPr userDrawn="1"/>
          </p:nvSpPr>
          <p:spPr bwMode="auto">
            <a:xfrm>
              <a:off x="73957" y="36743"/>
              <a:ext cx="383242" cy="310714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1" hangingPunct="1"/>
              <a:endParaRPr lang="en-US" altLang="en-US" sz="1092"/>
            </a:p>
          </p:txBody>
        </p:sp>
      </p:grpSp>
      <p:grpSp>
        <p:nvGrpSpPr>
          <p:cNvPr id="10" name="Group 9"/>
          <p:cNvGrpSpPr/>
          <p:nvPr userDrawn="1"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11" name="Rounded Rectangle 10"/>
            <p:cNvSpPr/>
            <p:nvPr userDrawn="1"/>
          </p:nvSpPr>
          <p:spPr>
            <a:xfrm>
              <a:off x="9682912" y="8965"/>
              <a:ext cx="2402541" cy="600635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>
                <a:latin typeface="+mj-lt"/>
              </a:endParaRPr>
            </a:p>
          </p:txBody>
        </p:sp>
        <p:sp>
          <p:nvSpPr>
            <p:cNvPr id="12" name="object 7"/>
            <p:cNvSpPr txBox="1"/>
            <p:nvPr userDrawn="1"/>
          </p:nvSpPr>
          <p:spPr>
            <a:xfrm>
              <a:off x="9803934" y="193190"/>
              <a:ext cx="2160495" cy="223220"/>
            </a:xfrm>
            <a:prstGeom prst="rect">
              <a:avLst/>
            </a:prstGeom>
          </p:spPr>
          <p:txBody>
            <a:bodyPr wrap="square" lIns="0" tIns="7701" rIns="0" bIns="0">
              <a:spAutoFit/>
            </a:bodyPr>
            <a:lstStyle/>
            <a:p>
              <a:pPr marL="7701" algn="ctr">
                <a:spcBef>
                  <a:spcPts val="61"/>
                </a:spcBef>
                <a:defRPr/>
              </a:pPr>
              <a:r>
                <a:rPr sz="1400" b="1" i="1" spc="-3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Go, change </a:t>
              </a:r>
              <a:r>
                <a:rPr sz="1400" b="1" i="1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the</a:t>
              </a:r>
              <a:r>
                <a:rPr sz="1400" b="1" i="1" spc="-49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 </a:t>
              </a:r>
              <a:r>
                <a:rPr sz="1400" b="1" i="1" spc="-3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world</a:t>
              </a:r>
              <a:endParaRPr sz="1400" b="1">
                <a:latin typeface="Bookman Old Style" panose="02050604050505020204" pitchFamily="18" charset="0"/>
                <a:ea typeface="ＭＳ Ｐゴシック" charset="0"/>
                <a:cs typeface="Playfair Display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9505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856" y="0"/>
            <a:ext cx="12191145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sz="1092">
              <a:solidFill>
                <a:srgbClr val="FFFF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BAEB3-0664-49E1-9FE0-BA29E4444757}" type="datetime2">
              <a:rPr lang="en-IN" smtClean="0"/>
              <a:t>Thursday, 04 June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RV COLLEGE OF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7" name="Rounded Rectangle 6"/>
            <p:cNvSpPr/>
            <p:nvPr userDrawn="1"/>
          </p:nvSpPr>
          <p:spPr>
            <a:xfrm>
              <a:off x="9682912" y="8965"/>
              <a:ext cx="2402541" cy="600635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>
                <a:latin typeface="+mj-lt"/>
              </a:endParaRPr>
            </a:p>
          </p:txBody>
        </p:sp>
        <p:sp>
          <p:nvSpPr>
            <p:cNvPr id="8" name="object 7"/>
            <p:cNvSpPr txBox="1"/>
            <p:nvPr userDrawn="1"/>
          </p:nvSpPr>
          <p:spPr>
            <a:xfrm>
              <a:off x="9803934" y="193190"/>
              <a:ext cx="2160495" cy="223220"/>
            </a:xfrm>
            <a:prstGeom prst="rect">
              <a:avLst/>
            </a:prstGeom>
          </p:spPr>
          <p:txBody>
            <a:bodyPr wrap="square" lIns="0" tIns="7701" rIns="0" bIns="0">
              <a:spAutoFit/>
            </a:bodyPr>
            <a:lstStyle/>
            <a:p>
              <a:pPr marL="7701" algn="ctr">
                <a:spcBef>
                  <a:spcPts val="61"/>
                </a:spcBef>
                <a:defRPr/>
              </a:pPr>
              <a:r>
                <a:rPr sz="1400" b="1" i="1" spc="-3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Go, change </a:t>
              </a:r>
              <a:r>
                <a:rPr sz="1400" b="1" i="1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the</a:t>
              </a:r>
              <a:r>
                <a:rPr sz="1400" b="1" i="1" spc="-49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 </a:t>
              </a:r>
              <a:r>
                <a:rPr sz="1400" b="1" i="1" spc="-3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world</a:t>
              </a:r>
              <a:endParaRPr sz="1400" b="1">
                <a:latin typeface="Bookman Old Style" panose="02050604050505020204" pitchFamily="18" charset="0"/>
                <a:ea typeface="ＭＳ Ｐゴシック" charset="0"/>
                <a:cs typeface="Playfair Display"/>
              </a:endParaRPr>
            </a:p>
          </p:txBody>
        </p:sp>
      </p:grpSp>
      <p:grpSp>
        <p:nvGrpSpPr>
          <p:cNvPr id="9" name="Group 8"/>
          <p:cNvGrpSpPr/>
          <p:nvPr userDrawn="1"/>
        </p:nvGrpSpPr>
        <p:grpSpPr>
          <a:xfrm>
            <a:off x="0" y="1"/>
            <a:ext cx="1174375" cy="932329"/>
            <a:chOff x="1" y="0"/>
            <a:chExt cx="995082" cy="663388"/>
          </a:xfrm>
        </p:grpSpPr>
        <p:sp>
          <p:nvSpPr>
            <p:cNvPr id="10" name="object 3"/>
            <p:cNvSpPr>
              <a:spLocks/>
            </p:cNvSpPr>
            <p:nvPr userDrawn="1"/>
          </p:nvSpPr>
          <p:spPr bwMode="auto">
            <a:xfrm>
              <a:off x="1" y="0"/>
              <a:ext cx="995082" cy="663388"/>
            </a:xfrm>
            <a:custGeom>
              <a:avLst/>
              <a:gdLst>
                <a:gd name="T0" fmla="*/ 23708288 w 7436484"/>
                <a:gd name="T1" fmla="*/ 0 h 5134610"/>
                <a:gd name="T2" fmla="*/ 0 w 7436484"/>
                <a:gd name="T3" fmla="*/ 0 h 5134610"/>
                <a:gd name="T4" fmla="*/ 0 w 7436484"/>
                <a:gd name="T5" fmla="*/ 16402574 h 5134610"/>
                <a:gd name="T6" fmla="*/ 23708288 w 7436484"/>
                <a:gd name="T7" fmla="*/ 0 h 513461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36484"/>
                <a:gd name="T13" fmla="*/ 0 h 5134610"/>
                <a:gd name="T14" fmla="*/ 7436484 w 7436484"/>
                <a:gd name="T15" fmla="*/ 5134610 h 513461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36484" h="5134610">
                  <a:moveTo>
                    <a:pt x="7435941" y="0"/>
                  </a:moveTo>
                  <a:lnTo>
                    <a:pt x="0" y="0"/>
                  </a:lnTo>
                  <a:lnTo>
                    <a:pt x="0" y="5134513"/>
                  </a:lnTo>
                  <a:lnTo>
                    <a:pt x="7435941" y="0"/>
                  </a:lnTo>
                  <a:close/>
                </a:path>
              </a:pathLst>
            </a:custGeom>
            <a:solidFill>
              <a:srgbClr val="005893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IN" sz="1092"/>
            </a:p>
          </p:txBody>
        </p:sp>
        <p:sp>
          <p:nvSpPr>
            <p:cNvPr id="11" name="object 4"/>
            <p:cNvSpPr>
              <a:spLocks noChangeArrowheads="1"/>
            </p:cNvSpPr>
            <p:nvPr userDrawn="1"/>
          </p:nvSpPr>
          <p:spPr bwMode="auto">
            <a:xfrm>
              <a:off x="73957" y="36743"/>
              <a:ext cx="383242" cy="310714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1" hangingPunct="1"/>
              <a:endParaRPr lang="en-US" altLang="en-US" sz="1092"/>
            </a:p>
          </p:txBody>
        </p:sp>
      </p:grp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1096" y="1605964"/>
            <a:ext cx="5889812" cy="3646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756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 userDrawn="1"/>
        </p:nvGrpSpPr>
        <p:grpSpPr>
          <a:xfrm>
            <a:off x="-35002" y="0"/>
            <a:ext cx="12191145" cy="6858000"/>
            <a:chOff x="-35003" y="-1"/>
            <a:chExt cx="12191144" cy="6858000"/>
          </a:xfrm>
        </p:grpSpPr>
        <p:sp>
          <p:nvSpPr>
            <p:cNvPr id="9" name="Rectangle 8"/>
            <p:cNvSpPr/>
            <p:nvPr userDrawn="1"/>
          </p:nvSpPr>
          <p:spPr>
            <a:xfrm>
              <a:off x="-35003" y="-1"/>
              <a:ext cx="12191144" cy="6858000"/>
            </a:xfrm>
            <a:prstGeom prst="rect">
              <a:avLst/>
            </a:prstGeom>
            <a:solidFill>
              <a:schemeClr val="lt1">
                <a:alpha val="99000"/>
              </a:schemeClr>
            </a:solidFill>
            <a:ln w="76200">
              <a:solidFill>
                <a:srgbClr val="005893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IN" sz="1092">
                <a:solidFill>
                  <a:srgbClr val="FFFFFF"/>
                </a:solidFill>
              </a:endParaRPr>
            </a:p>
          </p:txBody>
        </p:sp>
        <p:grpSp>
          <p:nvGrpSpPr>
            <p:cNvPr id="10" name="Group 9"/>
            <p:cNvGrpSpPr/>
            <p:nvPr userDrawn="1"/>
          </p:nvGrpSpPr>
          <p:grpSpPr>
            <a:xfrm>
              <a:off x="0" y="-1"/>
              <a:ext cx="1174375" cy="932329"/>
              <a:chOff x="1" y="0"/>
              <a:chExt cx="995082" cy="663388"/>
            </a:xfrm>
          </p:grpSpPr>
          <p:sp>
            <p:nvSpPr>
              <p:cNvPr id="11" name="object 3"/>
              <p:cNvSpPr>
                <a:spLocks/>
              </p:cNvSpPr>
              <p:nvPr userDrawn="1"/>
            </p:nvSpPr>
            <p:spPr bwMode="auto">
              <a:xfrm>
                <a:off x="1" y="0"/>
                <a:ext cx="995082" cy="663388"/>
              </a:xfrm>
              <a:custGeom>
                <a:avLst/>
                <a:gdLst>
                  <a:gd name="T0" fmla="*/ 23708288 w 7436484"/>
                  <a:gd name="T1" fmla="*/ 0 h 5134610"/>
                  <a:gd name="T2" fmla="*/ 0 w 7436484"/>
                  <a:gd name="T3" fmla="*/ 0 h 5134610"/>
                  <a:gd name="T4" fmla="*/ 0 w 7436484"/>
                  <a:gd name="T5" fmla="*/ 16402574 h 5134610"/>
                  <a:gd name="T6" fmla="*/ 23708288 w 7436484"/>
                  <a:gd name="T7" fmla="*/ 0 h 51346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436484"/>
                  <a:gd name="T13" fmla="*/ 0 h 5134610"/>
                  <a:gd name="T14" fmla="*/ 7436484 w 7436484"/>
                  <a:gd name="T15" fmla="*/ 5134610 h 51346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436484" h="5134610">
                    <a:moveTo>
                      <a:pt x="7435941" y="0"/>
                    </a:moveTo>
                    <a:lnTo>
                      <a:pt x="0" y="0"/>
                    </a:lnTo>
                    <a:lnTo>
                      <a:pt x="0" y="5134513"/>
                    </a:lnTo>
                    <a:lnTo>
                      <a:pt x="7435941" y="0"/>
                    </a:lnTo>
                    <a:close/>
                  </a:path>
                </a:pathLst>
              </a:custGeom>
              <a:solidFill>
                <a:srgbClr val="005893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/>
              <a:lstStyle/>
              <a:p>
                <a:endParaRPr lang="en-IN" sz="1092"/>
              </a:p>
            </p:txBody>
          </p:sp>
          <p:sp>
            <p:nvSpPr>
              <p:cNvPr id="12" name="object 4"/>
              <p:cNvSpPr>
                <a:spLocks noChangeArrowheads="1"/>
              </p:cNvSpPr>
              <p:nvPr userDrawn="1"/>
            </p:nvSpPr>
            <p:spPr bwMode="auto">
              <a:xfrm>
                <a:off x="73957" y="36743"/>
                <a:ext cx="383242" cy="310714"/>
              </a:xfrm>
              <a:prstGeom prst="rect">
                <a:avLst/>
              </a:prstGeom>
              <a:blipFill dpi="0" rotWithShape="1">
                <a:blip r:embed="rId2" cstate="print"/>
                <a:srcRect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eaLnBrk="1" hangingPunct="1"/>
                <a:endParaRPr lang="en-US" altLang="en-US" sz="1092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77AC3-F117-417D-9C17-587E6F3BE300}" type="datetime2">
              <a:rPr lang="en-IN" smtClean="0"/>
              <a:t>Thursday, 04 June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RV COLLEGE OF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14" name="Rounded Rectangle 13"/>
            <p:cNvSpPr/>
            <p:nvPr userDrawn="1"/>
          </p:nvSpPr>
          <p:spPr>
            <a:xfrm>
              <a:off x="9682912" y="8965"/>
              <a:ext cx="2402541" cy="600635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>
                <a:latin typeface="+mj-lt"/>
              </a:endParaRPr>
            </a:p>
          </p:txBody>
        </p:sp>
        <p:sp>
          <p:nvSpPr>
            <p:cNvPr id="15" name="object 7"/>
            <p:cNvSpPr txBox="1"/>
            <p:nvPr userDrawn="1"/>
          </p:nvSpPr>
          <p:spPr>
            <a:xfrm>
              <a:off x="9803934" y="193190"/>
              <a:ext cx="2160495" cy="223220"/>
            </a:xfrm>
            <a:prstGeom prst="rect">
              <a:avLst/>
            </a:prstGeom>
          </p:spPr>
          <p:txBody>
            <a:bodyPr wrap="square" lIns="0" tIns="7701" rIns="0" bIns="0">
              <a:spAutoFit/>
            </a:bodyPr>
            <a:lstStyle/>
            <a:p>
              <a:pPr marL="7701" algn="ctr">
                <a:spcBef>
                  <a:spcPts val="61"/>
                </a:spcBef>
                <a:defRPr/>
              </a:pPr>
              <a:r>
                <a:rPr sz="1400" b="1" i="1" spc="-3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Go, change </a:t>
              </a:r>
              <a:r>
                <a:rPr sz="1400" b="1" i="1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the</a:t>
              </a:r>
              <a:r>
                <a:rPr sz="1400" b="1" i="1" spc="-49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 </a:t>
              </a:r>
              <a:r>
                <a:rPr sz="1400" b="1" i="1" spc="-3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world</a:t>
              </a:r>
              <a:endParaRPr sz="1400" b="1">
                <a:latin typeface="Bookman Old Style" panose="02050604050505020204" pitchFamily="18" charset="0"/>
                <a:ea typeface="ＭＳ Ｐゴシック" charset="0"/>
                <a:cs typeface="Playfair Display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6681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1A392-D277-4C60-80CA-4155BF24A22F}" type="datetime2">
              <a:rPr lang="en-IN" smtClean="0"/>
              <a:t>Thursday, 04 June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RV COLLEGE OF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073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57930-B2AB-48F5-8AD5-4A9179262E34}" type="datetime2">
              <a:rPr lang="en-IN" smtClean="0"/>
              <a:t>Thursday, 04 June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RV COLLEGE OF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6580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0EB2B-9CFC-43E8-806F-531A6B6EF1FD}" type="datetime2">
              <a:rPr lang="en-IN" smtClean="0"/>
              <a:t>Thursday, 04 June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RV COLLEGE OF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6403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0449F-E26E-4CC2-B153-3EB375A0CF11}" type="datetime2">
              <a:rPr lang="en-IN" smtClean="0"/>
              <a:t>Thursday, 04 June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RV COLLEGE OF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59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10" Type="http://schemas.openxmlformats.org/officeDocument/2006/relationships/image" Target="../media/image14.jpeg"/><Relationship Id="rId4" Type="http://schemas.openxmlformats.org/officeDocument/2006/relationships/image" Target="../media/image8.jpeg"/><Relationship Id="rId9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F227B2-6E6E-A65E-A828-6F23B8D5E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6BA3F8B8-C75C-44FF-9C37-B9B69285372F}" type="datetime2">
              <a:rPr lang="en-IN" smtClean="0"/>
              <a:t>Thursday, 04 June 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9311E5-35F6-67F8-BA96-85A5A20D3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1</a:t>
            </a:fld>
            <a:endParaRPr lang="en-IN"/>
          </a:p>
        </p:txBody>
      </p:sp>
      <p:pic>
        <p:nvPicPr>
          <p:cNvPr id="7" name="Content Placeholder 6" descr="A building with a roof&#10;&#10;Description automatically generated">
            <a:extLst>
              <a:ext uri="{FF2B5EF4-FFF2-40B4-BE49-F238E27FC236}">
                <a16:creationId xmlns:a16="http://schemas.microsoft.com/office/drawing/2014/main" id="{4FFF1151-EB75-7914-B2AB-B16B6A0207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1879" y="1067010"/>
            <a:ext cx="11421075" cy="389408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7401447-E36D-D6F9-70CD-9802DA9AD004}"/>
              </a:ext>
            </a:extLst>
          </p:cNvPr>
          <p:cNvSpPr/>
          <p:nvPr/>
        </p:nvSpPr>
        <p:spPr>
          <a:xfrm>
            <a:off x="349046" y="4146929"/>
            <a:ext cx="11493908" cy="1004814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altLang="en-US" sz="3600" b="1">
              <a:solidFill>
                <a:schemeClr val="bg1"/>
              </a:solidFill>
              <a:latin typeface="Bookman Old Style" panose="02050604050505020204" pitchFamily="18" charset="0"/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GB" altLang="en-US" sz="3600" b="1">
                <a:solidFill>
                  <a:schemeClr val="bg1"/>
                </a:solidFill>
                <a:latin typeface="Bookman Old Style" panose="02050604050505020204" pitchFamily="18" charset="0"/>
                <a:cs typeface="Arial" panose="020B0604020202020204" pitchFamily="34" charset="0"/>
              </a:rPr>
              <a:t>SMART SOLAR EV CHARGING STATIONS </a:t>
            </a:r>
          </a:p>
          <a:p>
            <a:pPr algn="ctr">
              <a:defRPr/>
            </a:pPr>
            <a:endParaRPr lang="en-GB" altLang="en-US" sz="3600" b="1" baseline="0">
              <a:solidFill>
                <a:schemeClr val="bg1"/>
              </a:solidFill>
              <a:latin typeface="Bookman Old Style" panose="02050604050505020204" pitchFamily="18" charset="0"/>
              <a:cs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E49E1EB-59AB-C0C7-9FA4-FC809A9DB13F}"/>
              </a:ext>
            </a:extLst>
          </p:cNvPr>
          <p:cNvSpPr/>
          <p:nvPr/>
        </p:nvSpPr>
        <p:spPr>
          <a:xfrm>
            <a:off x="349045" y="5288583"/>
            <a:ext cx="11421075" cy="1004814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altLang="en-US" sz="2000" b="1">
              <a:solidFill>
                <a:schemeClr val="bg1"/>
              </a:solidFill>
              <a:latin typeface="Bookman Old Style" panose="02050604050505020204" pitchFamily="18" charset="0"/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GB" altLang="en-US" sz="2000" b="1">
                <a:solidFill>
                  <a:schemeClr val="bg1"/>
                </a:solidFill>
                <a:latin typeface="Bookman Old Style" panose="02050604050505020204" pitchFamily="18" charset="0"/>
                <a:cs typeface="Arial" panose="020B0604020202020204" pitchFamily="34" charset="0"/>
              </a:rPr>
              <a:t>URBAN DEVELOPMENT,MOBILITY AND SMART CITIES &amp; GROUP NO-10</a:t>
            </a:r>
          </a:p>
          <a:p>
            <a:pPr algn="ctr">
              <a:defRPr/>
            </a:pPr>
            <a:endParaRPr lang="en-GB" altLang="en-US" sz="2000" b="1" baseline="0">
              <a:solidFill>
                <a:schemeClr val="bg1"/>
              </a:solidFill>
              <a:latin typeface="Bookman Old Style" panose="020506040505050202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142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BF17B4-DB00-BF89-3526-2DA8A0A29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N"/>
              <a:t>GROUP MEMBERS</a:t>
            </a:r>
          </a:p>
          <a:p>
            <a:pPr marL="0" indent="0" algn="ctr">
              <a:buNone/>
            </a:pP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B5A1E3-0C41-900F-9BB1-D05B7D0C2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6BA3F8B8-C75C-44FF-9C37-B9B69285372F}" type="datetime2">
              <a:rPr lang="en-IN" smtClean="0"/>
              <a:t>Thursday, 04 June 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75FBE-C294-08E8-1FF5-05E0C27AF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2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B6E66E-A379-14BD-EE99-36887B40FC9A}"/>
              </a:ext>
            </a:extLst>
          </p:cNvPr>
          <p:cNvSpPr txBox="1"/>
          <p:nvPr/>
        </p:nvSpPr>
        <p:spPr>
          <a:xfrm>
            <a:off x="497711" y="4930815"/>
            <a:ext cx="5139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Mentor Name: Dr Madhu BR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8F9814B-FD84-AA2D-8480-E6972363CD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2551993"/>
              </p:ext>
            </p:extLst>
          </p:nvPr>
        </p:nvGraphicFramePr>
        <p:xfrm>
          <a:off x="2032000" y="2220546"/>
          <a:ext cx="8128000" cy="222503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13134">
                  <a:extLst>
                    <a:ext uri="{9D8B030D-6E8A-4147-A177-3AD203B41FA5}">
                      <a16:colId xmlns:a16="http://schemas.microsoft.com/office/drawing/2014/main" val="4099150491"/>
                    </a:ext>
                  </a:extLst>
                </a:gridCol>
                <a:gridCol w="2950866">
                  <a:extLst>
                    <a:ext uri="{9D8B030D-6E8A-4147-A177-3AD203B41FA5}">
                      <a16:colId xmlns:a16="http://schemas.microsoft.com/office/drawing/2014/main" val="186413512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9189098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606354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latin typeface="Aptos"/>
                        </a:rPr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latin typeface="Aptos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latin typeface="Aptos"/>
                        </a:rPr>
                        <a:t>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latin typeface="Aptos"/>
                        </a:rPr>
                        <a:t>ADMISSION NO.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440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ptos"/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ptos"/>
                        </a:rPr>
                        <a:t>Abhinand N Shamin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ptos"/>
                        </a:rPr>
                        <a:t>ECE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>
                          <a:solidFill>
                            <a:srgbClr val="000000"/>
                          </a:solidFill>
                          <a:latin typeface="Aptos"/>
                          <a:ea typeface="Calibri"/>
                          <a:cs typeface="Calibri"/>
                        </a:rPr>
                        <a:t>1RV25EC005</a:t>
                      </a:r>
                      <a:endParaRPr lang="en-US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526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ptos"/>
                        </a:rPr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ptos"/>
                        </a:rPr>
                        <a:t>Alvin K Boby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ECE</a:t>
                      </a:r>
                      <a:endParaRPr lang="en-US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>
                          <a:solidFill>
                            <a:srgbClr val="000000"/>
                          </a:solidFill>
                          <a:latin typeface="Aptos"/>
                          <a:ea typeface="Calibri"/>
                          <a:cs typeface="Calibri"/>
                        </a:rPr>
                        <a:t>1RV25EC026</a:t>
                      </a:r>
                      <a:endParaRPr lang="en-US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5793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ptos"/>
                        </a:rPr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Aptos"/>
                        </a:rPr>
                        <a:t>Rithvik Chennupati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ptos"/>
                        </a:rPr>
                        <a:t>CSE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>
                          <a:solidFill>
                            <a:srgbClr val="000000"/>
                          </a:solidFill>
                          <a:latin typeface="Aptos"/>
                          <a:ea typeface="Calibri"/>
                          <a:cs typeface="Calibri"/>
                        </a:rPr>
                        <a:t>1RV25CS147</a:t>
                      </a:r>
                      <a:endParaRPr lang="en-US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1718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ptos"/>
                        </a:rPr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ptos"/>
                        </a:rPr>
                        <a:t>Syed Farhan Hashmi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ptos"/>
                        </a:rPr>
                        <a:t>CSE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>
                          <a:solidFill>
                            <a:srgbClr val="000000"/>
                          </a:solidFill>
                          <a:latin typeface="Aptos"/>
                          <a:ea typeface="Calibri"/>
                          <a:cs typeface="Calibri"/>
                        </a:rPr>
                        <a:t>1RV25CS184</a:t>
                      </a:r>
                      <a:endParaRPr lang="en-US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541671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>
                          <a:latin typeface="Aptos"/>
                        </a:rPr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>
                          <a:latin typeface="Aptos"/>
                        </a:rPr>
                        <a:t>Ashvath.M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>
                          <a:latin typeface="Aptos"/>
                        </a:rPr>
                        <a:t>CSE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1RV25CS033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1444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2923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1C1988-AE0B-88A3-3DF6-11D7B6584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6BA3F8B8-C75C-44FF-9C37-B9B69285372F}" type="datetime2">
              <a:rPr lang="en-IN" smtClean="0"/>
              <a:t>Thursday, 04 June 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09EF8A-63AB-0729-F7A0-B08D1E293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3</a:t>
            </a:fld>
            <a:endParaRPr lang="en-IN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EBB7EA9-E087-F494-97C5-06B13A2535A6}"/>
              </a:ext>
            </a:extLst>
          </p:cNvPr>
          <p:cNvSpPr txBox="1">
            <a:spLocks/>
          </p:cNvSpPr>
          <p:nvPr/>
        </p:nvSpPr>
        <p:spPr>
          <a:xfrm>
            <a:off x="2339498" y="178833"/>
            <a:ext cx="8551282" cy="6386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3200" b="1">
              <a:solidFill>
                <a:srgbClr val="C0000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C92045-E69D-E287-24F9-F3EC5A13CCB1}"/>
              </a:ext>
            </a:extLst>
          </p:cNvPr>
          <p:cNvSpPr txBox="1">
            <a:spLocks/>
          </p:cNvSpPr>
          <p:nvPr/>
        </p:nvSpPr>
        <p:spPr>
          <a:xfrm>
            <a:off x="2182762" y="89747"/>
            <a:ext cx="8151863" cy="131995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4000" dirty="0"/>
              <a:t>EL Phase-3</a:t>
            </a:r>
          </a:p>
          <a:p>
            <a:r>
              <a:rPr lang="en-US" sz="4000" dirty="0"/>
              <a:t>P</a:t>
            </a:r>
            <a:r>
              <a:rPr lang="en-IN" sz="4000" dirty="0" err="1"/>
              <a:t>resentation</a:t>
            </a:r>
            <a:r>
              <a:rPr lang="en-IN" sz="4000" dirty="0"/>
              <a:t> Outline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B2484C8-68BC-9AA1-D8C5-282E3D756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1" y="1498786"/>
            <a:ext cx="11661590" cy="5180381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Project Overview</a:t>
            </a:r>
          </a:p>
          <a:p>
            <a:r>
              <a:rPr lang="en-US" dirty="0"/>
              <a:t>Comments during EL Phase-2 and action taken.</a:t>
            </a:r>
          </a:p>
          <a:p>
            <a:r>
              <a:rPr lang="en-US" dirty="0"/>
              <a:t>Tools and Techniques Used</a:t>
            </a:r>
          </a:p>
          <a:p>
            <a:r>
              <a:rPr lang="en-US" dirty="0"/>
              <a:t>Project Progress</a:t>
            </a:r>
          </a:p>
          <a:p>
            <a:r>
              <a:rPr lang="en-IN" dirty="0"/>
              <a:t>Analysis of Partial Results</a:t>
            </a:r>
          </a:p>
          <a:p>
            <a:r>
              <a:rPr lang="en-IN" dirty="0"/>
              <a:t>Deliverables and Outcomes</a:t>
            </a:r>
          </a:p>
          <a:p>
            <a:r>
              <a:rPr lang="en-US" dirty="0"/>
              <a:t>Future work (Remaining tasks)</a:t>
            </a:r>
            <a:endParaRPr lang="en-IN" dirty="0"/>
          </a:p>
          <a:p>
            <a:r>
              <a:rPr lang="en-IN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658094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E251775-AAB3-6740-9A5D-BF7C9197E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0472" y="1184433"/>
            <a:ext cx="5991528" cy="4963409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700"/>
              </a:spcBef>
              <a:buNone/>
            </a:pPr>
            <a:r>
              <a:rPr lang="en-US" sz="3200" b="1">
                <a:latin typeface="Aptos" panose="020B0004020202020204" pitchFamily="34" charset="0"/>
              </a:rPr>
              <a:t>Overview of the topic:</a:t>
            </a:r>
            <a:r>
              <a:rPr lang="en-US" b="1">
                <a:latin typeface="Aptos" panose="020B0004020202020204" pitchFamily="34" charset="0"/>
              </a:rPr>
              <a:t> </a:t>
            </a:r>
          </a:p>
          <a:p>
            <a:pPr>
              <a:spcBef>
                <a:spcPts val="700"/>
              </a:spcBef>
            </a:pPr>
            <a:r>
              <a:rPr lang="en-US" sz="2400" b="1">
                <a:solidFill>
                  <a:srgbClr val="0D375E"/>
                </a:solidFill>
                <a:latin typeface="Aptos" panose="020B0004020202020204" pitchFamily="34" charset="0"/>
              </a:rPr>
              <a:t>Charge Floww </a:t>
            </a:r>
            <a:r>
              <a:rPr lang="en-US" sz="2400">
                <a:solidFill>
                  <a:srgbClr val="0D375E"/>
                </a:solidFill>
                <a:latin typeface="Aptos" panose="020B0004020202020204" pitchFamily="34" charset="0"/>
              </a:rPr>
              <a:t>is an autonomous energy management ecosystem. It integrates dual-axis solar tilting, dynamic source switching, and a Universal IoT Retrofit Module to optimize renewable utility and legacy infrastructure.</a:t>
            </a:r>
          </a:p>
          <a:p>
            <a:pPr marL="0" indent="0">
              <a:spcBef>
                <a:spcPts val="700"/>
              </a:spcBef>
              <a:buNone/>
            </a:pPr>
            <a:r>
              <a:rPr lang="en-US" sz="3200" b="1">
                <a:latin typeface="Aptos" panose="020B0004020202020204" pitchFamily="34" charset="0"/>
              </a:rPr>
              <a:t>Importance of the topic: </a:t>
            </a:r>
          </a:p>
          <a:p>
            <a:pPr>
              <a:spcBef>
                <a:spcPts val="700"/>
              </a:spcBef>
            </a:pPr>
            <a:r>
              <a:rPr lang="en-US" sz="2400">
                <a:latin typeface="Aptos" panose="020B0004020202020204" pitchFamily="34" charset="0"/>
              </a:rPr>
              <a:t>With 230M EVs projected by 2030, Charge Floww was established to eliminate 'range anxiety' by integrating IoT-based solar charging with real-time station telemetry, creating a foundational smart-grid ecosystem.</a:t>
            </a:r>
          </a:p>
          <a:p>
            <a:r>
              <a:rPr lang="en-US" sz="2400">
                <a:latin typeface="Aptos" panose="020B0004020202020204" pitchFamily="34" charset="0"/>
              </a:rPr>
              <a:t>Infrastructure Scalability: Enabling Legacy Station Digitization through modular IoT attachments to solve the global compatibility crisis.</a:t>
            </a:r>
          </a:p>
          <a:p>
            <a:endParaRPr lang="en-IN" sz="2000">
              <a:latin typeface="Aptos" panose="020B00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FCC6EA-140E-7258-C5BE-07A799DCC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6BA3F8B8-C75C-44FF-9C37-B9B69285372F}" type="datetime2">
              <a:rPr lang="en-IN" smtClean="0"/>
              <a:t>Thursday, 04 June 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113B7-13B3-C292-E8C9-16465C8FC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No. </a:t>
            </a:r>
            <a:fld id="{9BA15CD2-76D6-4EFE-91D9-7087332E3318}" type="slidenum">
              <a:rPr lang="en-IN" smtClean="0"/>
              <a:pPr/>
              <a:t>4</a:t>
            </a:fld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8FE783-AFDF-B298-CC26-D9899A64E440}"/>
              </a:ext>
            </a:extLst>
          </p:cNvPr>
          <p:cNvSpPr txBox="1">
            <a:spLocks/>
          </p:cNvSpPr>
          <p:nvPr/>
        </p:nvSpPr>
        <p:spPr>
          <a:xfrm>
            <a:off x="1386895" y="145670"/>
            <a:ext cx="9834426" cy="839401"/>
          </a:xfrm>
          <a:prstGeom prst="rect">
            <a:avLst/>
          </a:prstGeom>
          <a:noFill/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4000"/>
              <a:t>Introduction</a:t>
            </a:r>
            <a:endParaRPr lang="en-IN" sz="4000"/>
          </a:p>
        </p:txBody>
      </p:sp>
      <p:pic>
        <p:nvPicPr>
          <p:cNvPr id="6" name="Picture 5" descr="A diagram of solar panels&#10;&#10;AI-generated content may be incorrect.">
            <a:extLst>
              <a:ext uri="{FF2B5EF4-FFF2-40B4-BE49-F238E27FC236}">
                <a16:creationId xmlns:a16="http://schemas.microsoft.com/office/drawing/2014/main" id="{1E4EA1AD-919D-A60F-4CBA-04415D262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41" y="1163430"/>
            <a:ext cx="5725439" cy="4584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980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0D1D3-A7FF-5841-01CF-FCFB6C504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9A31C5-F30E-9FDF-7581-766919536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811" y="985071"/>
            <a:ext cx="11842377" cy="57550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/>
              <a:t>Problem statement:</a:t>
            </a:r>
          </a:p>
          <a:p>
            <a:r>
              <a:rPr lang="en-IN" sz="2000"/>
              <a:t> </a:t>
            </a:r>
            <a:r>
              <a:rPr lang="en-US" sz="2000"/>
              <a:t>EV users face rising range and charger anxiety due to unreliable stations and a 1-in-5 failure rate, while growing EV demand strains power grids. A smart, solar-powered, IoT-connected charging system is needed to provide reliable, real-time, and sustainable charging.</a:t>
            </a:r>
          </a:p>
          <a:p>
            <a:pPr marL="0" indent="0">
              <a:buNone/>
            </a:pPr>
            <a:r>
              <a:rPr lang="en-US" sz="2000" b="1"/>
              <a:t>Objectives:</a:t>
            </a:r>
          </a:p>
          <a:p>
            <a:pPr marL="0" indent="0">
              <a:buNone/>
            </a:pPr>
            <a:r>
              <a:rPr lang="en-US" sz="2000" b="1">
                <a:latin typeface="Bookman Old Style"/>
              </a:rPr>
              <a:t>1. </a:t>
            </a:r>
            <a:r>
              <a:rPr lang="en-US" sz="2000" b="1"/>
              <a:t>Create</a:t>
            </a:r>
            <a:r>
              <a:rPr lang="en-US" sz="2000"/>
              <a:t> a user-friendly website platform that </a:t>
            </a:r>
            <a:r>
              <a:rPr lang="en-US" sz="2000" b="1"/>
              <a:t>empowers</a:t>
            </a:r>
            <a:r>
              <a:rPr lang="en-US" sz="2000"/>
              <a:t> EV users to </a:t>
            </a:r>
            <a:r>
              <a:rPr lang="en-US" sz="2000" b="1"/>
              <a:t>apply</a:t>
            </a:r>
            <a:r>
              <a:rPr lang="en-US" sz="2000"/>
              <a:t> real-time functions for locating, monitoring, and reserving charging stations.</a:t>
            </a:r>
            <a:endParaRPr lang="en-US" sz="2000">
              <a:latin typeface="Bookman Old Style"/>
            </a:endParaRPr>
          </a:p>
          <a:p>
            <a:pPr marL="0" indent="0">
              <a:buNone/>
            </a:pPr>
            <a:r>
              <a:rPr lang="en-US" sz="2000" b="1">
                <a:latin typeface="Bookman Old Style"/>
              </a:rPr>
              <a:t>2. </a:t>
            </a:r>
            <a:r>
              <a:rPr lang="en-US" sz="2000" b="1"/>
              <a:t>Apply</a:t>
            </a:r>
            <a:r>
              <a:rPr lang="en-US" sz="2000"/>
              <a:t> IoT technology to </a:t>
            </a:r>
            <a:r>
              <a:rPr lang="en-US" sz="2000" b="1"/>
              <a:t>analyze</a:t>
            </a:r>
            <a:r>
              <a:rPr lang="en-US" sz="2000"/>
              <a:t> charging unit data, </a:t>
            </a:r>
            <a:r>
              <a:rPr lang="en-US" sz="2000" b="1"/>
              <a:t>enabling</a:t>
            </a:r>
            <a:r>
              <a:rPr lang="en-US" sz="2000"/>
              <a:t> smart monitoring, predictive maintenance, and </a:t>
            </a:r>
            <a:r>
              <a:rPr lang="en-US" sz="2000" b="1"/>
              <a:t>evaluation</a:t>
            </a:r>
            <a:r>
              <a:rPr lang="en-US" sz="2000"/>
              <a:t> of efficient load management strategies.</a:t>
            </a:r>
            <a:endParaRPr lang="en-US" sz="2000">
              <a:latin typeface="Bookman Old Style"/>
            </a:endParaRPr>
          </a:p>
          <a:p>
            <a:pPr marL="0" indent="0">
              <a:buNone/>
            </a:pPr>
            <a:r>
              <a:rPr lang="en-US" sz="2000" b="1">
                <a:latin typeface="Bookman Old Style"/>
              </a:rPr>
              <a:t>3. </a:t>
            </a:r>
            <a:r>
              <a:rPr lang="en-US" sz="2000" b="1"/>
              <a:t>Design</a:t>
            </a:r>
            <a:r>
              <a:rPr lang="en-US" sz="2000"/>
              <a:t> and </a:t>
            </a:r>
            <a:r>
              <a:rPr lang="en-US" sz="2000" b="1"/>
              <a:t>implement</a:t>
            </a:r>
            <a:r>
              <a:rPr lang="en-US" sz="2000"/>
              <a:t> a solar-powered charging system capable of </a:t>
            </a:r>
            <a:r>
              <a:rPr lang="en-US" sz="2000" b="1"/>
              <a:t>producing</a:t>
            </a:r>
            <a:r>
              <a:rPr lang="en-US" sz="2000"/>
              <a:t> clean, renewable, and self-sustaining energy for electric vehicles.</a:t>
            </a:r>
          </a:p>
          <a:p>
            <a:pPr marL="0" indent="0">
              <a:buNone/>
            </a:pPr>
            <a:r>
              <a:rPr lang="en-US" sz="2000" b="1">
                <a:latin typeface="Bookman Old Style"/>
              </a:rPr>
              <a:t>4. </a:t>
            </a:r>
            <a:r>
              <a:rPr lang="en-US" sz="2000" b="1"/>
              <a:t>Analyze</a:t>
            </a:r>
            <a:r>
              <a:rPr lang="en-US" sz="2000"/>
              <a:t> the interoperability of the website, IoT system, and solar infrastructure to </a:t>
            </a:r>
            <a:r>
              <a:rPr lang="en-US" sz="2000" b="1"/>
              <a:t>evaluate</a:t>
            </a:r>
            <a:r>
              <a:rPr lang="en-US" sz="2000"/>
              <a:t> and </a:t>
            </a:r>
            <a:r>
              <a:rPr lang="en-US" sz="2000" b="1"/>
              <a:t>enhance</a:t>
            </a:r>
            <a:r>
              <a:rPr lang="en-US" sz="2000"/>
              <a:t> overall charging reliability and user confidence.</a:t>
            </a:r>
            <a:endParaRPr lang="en-US" sz="2000">
              <a:latin typeface="Bookman Old Style"/>
            </a:endParaRPr>
          </a:p>
          <a:p>
            <a:pPr marL="0" indent="0">
              <a:buNone/>
            </a:pPr>
            <a:r>
              <a:rPr lang="en-US" sz="2000" b="1">
                <a:latin typeface="Bookman Old Style"/>
              </a:rPr>
              <a:t>5. </a:t>
            </a:r>
            <a:r>
              <a:rPr lang="en-US" sz="2000" b="1"/>
              <a:t>Apply</a:t>
            </a:r>
            <a:r>
              <a:rPr lang="en-US" sz="2000"/>
              <a:t> an AI chatbot to </a:t>
            </a:r>
            <a:r>
              <a:rPr lang="en-US" sz="2000" b="1"/>
              <a:t>interpret</a:t>
            </a:r>
            <a:r>
              <a:rPr lang="en-US" sz="2000"/>
              <a:t> user needs and </a:t>
            </a:r>
            <a:r>
              <a:rPr lang="en-US" sz="2000" b="1"/>
              <a:t>simplify</a:t>
            </a:r>
            <a:r>
              <a:rPr lang="en-US" sz="2000"/>
              <a:t> interface navigation, thereby bridging the </a:t>
            </a:r>
            <a:r>
              <a:rPr lang="en-US" sz="2000" b="1"/>
              <a:t>comprehension</a:t>
            </a:r>
            <a:r>
              <a:rPr lang="en-US" sz="2000"/>
              <a:t> gap between the user and the platform.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IN" sz="1600" b="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E6A2C1-60E6-1EAA-2722-A39F2DCA1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6BA3F8B8-C75C-44FF-9C37-B9B69285372F}" type="datetime2">
              <a:rPr lang="en-IN" smtClean="0"/>
              <a:t>Thursday, 04 June 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6559B-36AA-7A34-03C9-404AF862F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No. </a:t>
            </a:r>
            <a:fld id="{9BA15CD2-76D6-4EFE-91D9-7087332E3318}" type="slidenum">
              <a:rPr lang="en-IN" smtClean="0"/>
              <a:pPr/>
              <a:t>5</a:t>
            </a:fld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D4BBCA-657F-D9F7-4811-B65B0F318537}"/>
              </a:ext>
            </a:extLst>
          </p:cNvPr>
          <p:cNvSpPr txBox="1">
            <a:spLocks/>
          </p:cNvSpPr>
          <p:nvPr/>
        </p:nvSpPr>
        <p:spPr>
          <a:xfrm>
            <a:off x="1386895" y="145670"/>
            <a:ext cx="9834426" cy="839401"/>
          </a:xfrm>
          <a:prstGeom prst="rect">
            <a:avLst/>
          </a:prstGeom>
          <a:noFill/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4000"/>
              <a:t>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1451446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4A26E-D7C7-CBB1-C462-4192015C9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E4B0960-420F-DC41-157C-9823DC32CB00}"/>
              </a:ext>
            </a:extLst>
          </p:cNvPr>
          <p:cNvSpPr/>
          <p:nvPr/>
        </p:nvSpPr>
        <p:spPr>
          <a:xfrm>
            <a:off x="269080" y="997979"/>
            <a:ext cx="4406615" cy="839401"/>
          </a:xfrm>
          <a:prstGeom prst="roundRect">
            <a:avLst/>
          </a:prstGeom>
          <a:solidFill>
            <a:schemeClr val="accent4">
              <a:alpha val="5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C00000"/>
                </a:solidFill>
                <a:latin typeface="Bookman Old Style" panose="02050604050505020204" pitchFamily="18" charset="0"/>
              </a:rPr>
              <a:t>Hardware tools used</a:t>
            </a:r>
            <a:endParaRPr lang="en-IN" sz="2400" b="1">
              <a:solidFill>
                <a:srgbClr val="C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032379-F748-B3AA-2A4D-97887EAA1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6BA3F8B8-C75C-44FF-9C37-B9B69285372F}" type="datetime2">
              <a:rPr lang="en-IN" smtClean="0"/>
              <a:t>Thursday, 04 June 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43033E-C6C3-F08C-29A3-56BD7FEC1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No. </a:t>
            </a:r>
            <a:fld id="{9BA15CD2-76D6-4EFE-91D9-7087332E3318}" type="slidenum">
              <a:rPr lang="en-IN" smtClean="0"/>
              <a:pPr/>
              <a:t>6</a:t>
            </a:fld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692CFF-BC9C-EEE3-9347-864A669B2996}"/>
              </a:ext>
            </a:extLst>
          </p:cNvPr>
          <p:cNvSpPr txBox="1">
            <a:spLocks/>
          </p:cNvSpPr>
          <p:nvPr/>
        </p:nvSpPr>
        <p:spPr>
          <a:xfrm>
            <a:off x="1386895" y="145670"/>
            <a:ext cx="9834426" cy="839401"/>
          </a:xfrm>
          <a:prstGeom prst="rect">
            <a:avLst/>
          </a:prstGeom>
          <a:noFill/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/>
              <a:t>Tools and Techniques Used</a:t>
            </a:r>
            <a:endParaRPr lang="en-US" sz="4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55C743-DD6B-4180-97AE-D8136D3C4DB6}"/>
              </a:ext>
            </a:extLst>
          </p:cNvPr>
          <p:cNvSpPr txBox="1"/>
          <p:nvPr/>
        </p:nvSpPr>
        <p:spPr>
          <a:xfrm>
            <a:off x="144529" y="1973662"/>
            <a:ext cx="11668362" cy="5387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429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IN" b="1">
                <a:solidFill>
                  <a:srgbClr val="002060"/>
                </a:solidFill>
                <a:latin typeface="Aptos" panose="020B0004020202020204" pitchFamily="34" charset="0"/>
              </a:rPr>
              <a:t> TP4056</a:t>
            </a:r>
          </a:p>
          <a:p>
            <a:pPr indent="-3429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IN" b="1">
                <a:solidFill>
                  <a:srgbClr val="002060"/>
                </a:solidFill>
                <a:latin typeface="Aptos" panose="020B0004020202020204" pitchFamily="34" charset="0"/>
              </a:rPr>
              <a:t> Buck Step Down Convertor</a:t>
            </a:r>
          </a:p>
          <a:p>
            <a:pPr indent="-3429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IN" b="1">
                <a:solidFill>
                  <a:srgbClr val="002060"/>
                </a:solidFill>
                <a:latin typeface="Aptos" panose="020B0004020202020204" pitchFamily="34" charset="0"/>
              </a:rPr>
              <a:t> Lithium ion Batteries</a:t>
            </a:r>
          </a:p>
          <a:p>
            <a:pPr indent="-3429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IN" b="1">
                <a:solidFill>
                  <a:srgbClr val="002060"/>
                </a:solidFill>
                <a:latin typeface="Aptos" panose="020B0004020202020204" pitchFamily="34" charset="0"/>
              </a:rPr>
              <a:t> DC 5V Charger</a:t>
            </a:r>
          </a:p>
          <a:p>
            <a:pPr indent="-3429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IN" b="1">
                <a:solidFill>
                  <a:srgbClr val="002060"/>
                </a:solidFill>
                <a:latin typeface="Aptos" panose="020B0004020202020204" pitchFamily="34" charset="0"/>
              </a:rPr>
              <a:t> 9V 3W Solar Panel</a:t>
            </a:r>
          </a:p>
          <a:p>
            <a:pPr indent="-3429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IN" b="1">
                <a:solidFill>
                  <a:srgbClr val="002060"/>
                </a:solidFill>
                <a:latin typeface="Aptos" panose="020B0004020202020204" pitchFamily="34" charset="0"/>
              </a:rPr>
              <a:t> 2 Channel Relay</a:t>
            </a:r>
          </a:p>
          <a:p>
            <a:pPr indent="-3429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IN" b="1">
                <a:solidFill>
                  <a:srgbClr val="002060"/>
                </a:solidFill>
                <a:latin typeface="Aptos" panose="020B0004020202020204" pitchFamily="34" charset="0"/>
              </a:rPr>
              <a:t> Ultrasonic Sensor</a:t>
            </a:r>
          </a:p>
          <a:p>
            <a:pPr indent="-3429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IN" b="1">
                <a:solidFill>
                  <a:srgbClr val="002060"/>
                </a:solidFill>
                <a:latin typeface="Aptos" panose="020B0004020202020204" pitchFamily="34" charset="0"/>
              </a:rPr>
              <a:t> ESP-32 Microcontroller</a:t>
            </a:r>
          </a:p>
          <a:p>
            <a:pPr indent="-3429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IN" b="1">
                <a:solidFill>
                  <a:srgbClr val="002060"/>
                </a:solidFill>
                <a:latin typeface="Aptos" panose="020B0004020202020204" pitchFamily="34" charset="0"/>
              </a:rPr>
              <a:t> Schottky Diode</a:t>
            </a:r>
          </a:p>
          <a:p>
            <a:pPr indent="-3429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IN" b="1">
                <a:solidFill>
                  <a:srgbClr val="002060"/>
                </a:solidFill>
                <a:latin typeface="Aptos" panose="020B0004020202020204" pitchFamily="34" charset="0"/>
              </a:rPr>
              <a:t> Jumper Wires</a:t>
            </a:r>
          </a:p>
          <a:p>
            <a:pPr indent="-3429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IN" b="1">
                <a:solidFill>
                  <a:srgbClr val="002060"/>
                </a:solidFill>
                <a:latin typeface="Aptos" panose="020B0004020202020204" pitchFamily="34" charset="0"/>
              </a:rPr>
              <a:t> Servo Motor</a:t>
            </a:r>
          </a:p>
          <a:p>
            <a:pPr indent="-3429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IN" b="1">
                <a:solidFill>
                  <a:srgbClr val="002060"/>
                </a:solidFill>
                <a:latin typeface="Aptos" panose="020B0004020202020204" pitchFamily="34" charset="0"/>
              </a:rPr>
              <a:t> 6 LDR Modules</a:t>
            </a:r>
          </a:p>
          <a:p>
            <a:pPr marL="342900" indent="-342900">
              <a:buFont typeface="+mj-lt"/>
              <a:buAutoNum type="arabicPeriod"/>
            </a:pPr>
            <a:endParaRPr lang="en-IN" sz="2200">
              <a:latin typeface="Bookman Old Style" panose="020506040505050202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IN"/>
          </a:p>
          <a:p>
            <a:pPr marL="342900" indent="-342900">
              <a:buFont typeface="+mj-lt"/>
              <a:buAutoNum type="arabicPeriod"/>
            </a:pPr>
            <a:endParaRPr lang="en-IN"/>
          </a:p>
        </p:txBody>
      </p:sp>
      <p:pic>
        <p:nvPicPr>
          <p:cNvPr id="1026" name="Picture 2" descr="Buy TP4056 1A Li-ion Charging Module ...">
            <a:extLst>
              <a:ext uri="{FF2B5EF4-FFF2-40B4-BE49-F238E27FC236}">
                <a16:creationId xmlns:a16="http://schemas.microsoft.com/office/drawing/2014/main" id="{D27B1905-060E-B904-699E-872FCD39A8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5552" y="938753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M2596 DC-DC Buck Converter Step Down Module : None: Amazon.in: Industrial  &amp; Scientific">
            <a:extLst>
              <a:ext uri="{FF2B5EF4-FFF2-40B4-BE49-F238E27FC236}">
                <a16:creationId xmlns:a16="http://schemas.microsoft.com/office/drawing/2014/main" id="{82B81CB6-B264-0944-5165-4D54458EC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5805" y="892435"/>
            <a:ext cx="1564193" cy="2235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18650 Li-ion Rechargeable Battery 1C (1200 mAh) - Original">
            <a:extLst>
              <a:ext uri="{FF2B5EF4-FFF2-40B4-BE49-F238E27FC236}">
                <a16:creationId xmlns:a16="http://schemas.microsoft.com/office/drawing/2014/main" id="{E27492AC-36D2-54D2-EB1C-B9CFD9F117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8306" y="2848422"/>
            <a:ext cx="1637619" cy="1637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C Adapter,Waysse 5V 1A Power Supply ...">
            <a:extLst>
              <a:ext uri="{FF2B5EF4-FFF2-40B4-BE49-F238E27FC236}">
                <a16:creationId xmlns:a16="http://schemas.microsoft.com/office/drawing/2014/main" id="{F21F3B4E-784F-A8E5-905B-886A63184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8585" y="1145512"/>
            <a:ext cx="2034335" cy="1936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VIGI Solar Panel 60W | VIGI Solar Panel ...">
            <a:extLst>
              <a:ext uri="{FF2B5EF4-FFF2-40B4-BE49-F238E27FC236}">
                <a16:creationId xmlns:a16="http://schemas.microsoft.com/office/drawing/2014/main" id="{CAC7797B-24F5-C3EE-1FAF-C7EFAF2F0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0448" y="2848422"/>
            <a:ext cx="1848843" cy="1848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2 Channel 5Volt 10Amps Dual Relay ...">
            <a:extLst>
              <a:ext uri="{FF2B5EF4-FFF2-40B4-BE49-F238E27FC236}">
                <a16:creationId xmlns:a16="http://schemas.microsoft.com/office/drawing/2014/main" id="{BA036AFC-FFEE-CCE8-99EC-C9DEB1204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8117" y="3010532"/>
            <a:ext cx="1914774" cy="1914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Buy HC-SR04 Ultrasonic Sensor at ...">
            <a:extLst>
              <a:ext uri="{FF2B5EF4-FFF2-40B4-BE49-F238E27FC236}">
                <a16:creationId xmlns:a16="http://schemas.microsoft.com/office/drawing/2014/main" id="{58C45CDF-B76F-2383-BC49-65E98CE79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8246" y="4680924"/>
            <a:ext cx="1848843" cy="1848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Buy Online espressif esp32 and ...">
            <a:extLst>
              <a:ext uri="{FF2B5EF4-FFF2-40B4-BE49-F238E27FC236}">
                <a16:creationId xmlns:a16="http://schemas.microsoft.com/office/drawing/2014/main" id="{FE2B9D87-06E8-AFAB-3B35-76E2EB6802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4992" y="4503777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Schottky Diode : Construction, Working ...">
            <a:extLst>
              <a:ext uri="{FF2B5EF4-FFF2-40B4-BE49-F238E27FC236}">
                <a16:creationId xmlns:a16="http://schemas.microsoft.com/office/drawing/2014/main" id="{CA4527C6-B8A7-4887-C8AC-1A9BAA2C3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8117" y="5012341"/>
            <a:ext cx="1914774" cy="1125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6830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83DBB-02E1-715D-78E4-60C2E6F44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0CA47BD-D3EC-14E3-8A33-31A75E59E07E}"/>
              </a:ext>
            </a:extLst>
          </p:cNvPr>
          <p:cNvSpPr/>
          <p:nvPr/>
        </p:nvSpPr>
        <p:spPr>
          <a:xfrm>
            <a:off x="269080" y="1248855"/>
            <a:ext cx="4406615" cy="839401"/>
          </a:xfrm>
          <a:prstGeom prst="roundRect">
            <a:avLst/>
          </a:prstGeom>
          <a:solidFill>
            <a:schemeClr val="accent4">
              <a:alpha val="5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C00000"/>
                </a:solidFill>
                <a:latin typeface="Bookman Old Style" panose="02050604050505020204" pitchFamily="18" charset="0"/>
              </a:rPr>
              <a:t>Software tools used</a:t>
            </a:r>
            <a:endParaRPr lang="en-IN" sz="2400" b="1">
              <a:solidFill>
                <a:srgbClr val="C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54667D-9C3F-6E40-6F07-518FBF5F5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6BA3F8B8-C75C-44FF-9C37-B9B69285372F}" type="datetime2">
              <a:rPr lang="en-IN" smtClean="0"/>
              <a:t>Thursday, 04 June 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7BAA2-C687-C2F0-26C4-85DDC819C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No. </a:t>
            </a:r>
            <a:fld id="{9BA15CD2-76D6-4EFE-91D9-7087332E3318}" type="slidenum">
              <a:rPr lang="en-IN" smtClean="0"/>
              <a:pPr/>
              <a:t>7</a:t>
            </a:fld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9FE6CB-23E0-F9C0-7D27-D1F98C9F0F96}"/>
              </a:ext>
            </a:extLst>
          </p:cNvPr>
          <p:cNvSpPr txBox="1">
            <a:spLocks/>
          </p:cNvSpPr>
          <p:nvPr/>
        </p:nvSpPr>
        <p:spPr>
          <a:xfrm>
            <a:off x="1386895" y="145670"/>
            <a:ext cx="9834426" cy="839401"/>
          </a:xfrm>
          <a:prstGeom prst="rect">
            <a:avLst/>
          </a:prstGeom>
          <a:noFill/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/>
              <a:t>Tools and Techniques Used</a:t>
            </a:r>
            <a:endParaRPr lang="en-US" sz="4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C977DF-AC43-2497-0F54-6891A7850DDA}"/>
              </a:ext>
            </a:extLst>
          </p:cNvPr>
          <p:cNvSpPr txBox="1"/>
          <p:nvPr/>
        </p:nvSpPr>
        <p:spPr>
          <a:xfrm>
            <a:off x="174812" y="2088256"/>
            <a:ext cx="11842376" cy="6755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sz="1600">
              <a:latin typeface="Aptos" panose="020B0004020202020204" pitchFamily="34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1">
                <a:solidFill>
                  <a:srgbClr val="002060"/>
                </a:solidFill>
                <a:latin typeface="Aptos" panose="020B0004020202020204" pitchFamily="34" charset="0"/>
              </a:rPr>
              <a:t>1. Firebase</a:t>
            </a:r>
            <a:r>
              <a:rPr lang="en-US" sz="2000">
                <a:solidFill>
                  <a:srgbClr val="002060"/>
                </a:solidFill>
                <a:latin typeface="Aptos" panose="020B0004020202020204" pitchFamily="34" charset="0"/>
              </a:rPr>
              <a:t> – Backend-as-a-Service for real-time database, authentication, and cloud storage.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1">
                <a:solidFill>
                  <a:srgbClr val="002060"/>
                </a:solidFill>
                <a:latin typeface="Aptos" panose="020B0004020202020204" pitchFamily="34" charset="0"/>
              </a:rPr>
              <a:t>2. GitHub</a:t>
            </a:r>
            <a:r>
              <a:rPr lang="en-US" sz="2000">
                <a:solidFill>
                  <a:srgbClr val="002060"/>
                </a:solidFill>
                <a:latin typeface="Aptos" panose="020B0004020202020204" pitchFamily="34" charset="0"/>
              </a:rPr>
              <a:t> – Version control, collaboration, and repository management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1">
                <a:solidFill>
                  <a:srgbClr val="002060"/>
                </a:solidFill>
                <a:latin typeface="Aptos" panose="020B0004020202020204" pitchFamily="34" charset="0"/>
              </a:rPr>
              <a:t>3. Visual Studio Code (VS Code) </a:t>
            </a:r>
            <a:r>
              <a:rPr lang="en-US" sz="2000">
                <a:solidFill>
                  <a:srgbClr val="002060"/>
                </a:solidFill>
                <a:latin typeface="Aptos" panose="020B0004020202020204" pitchFamily="34" charset="0"/>
              </a:rPr>
              <a:t>– Main code editor with development extensions.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1">
                <a:solidFill>
                  <a:srgbClr val="002060"/>
                </a:solidFill>
                <a:latin typeface="Aptos" panose="020B0004020202020204" pitchFamily="34" charset="0"/>
              </a:rPr>
              <a:t>4. Arduino IDE </a:t>
            </a:r>
            <a:r>
              <a:rPr lang="en-US" sz="2000">
                <a:solidFill>
                  <a:srgbClr val="002060"/>
                </a:solidFill>
                <a:latin typeface="Aptos" panose="020B0004020202020204" pitchFamily="34" charset="0"/>
              </a:rPr>
              <a:t>– Used to program IoT hardware and sensors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1">
                <a:solidFill>
                  <a:srgbClr val="002060"/>
                </a:solidFill>
                <a:latin typeface="Aptos" panose="020B0004020202020204" pitchFamily="34" charset="0"/>
              </a:rPr>
              <a:t>5. </a:t>
            </a:r>
            <a:r>
              <a:rPr lang="en-US" sz="2000" b="1" err="1">
                <a:solidFill>
                  <a:srgbClr val="002060"/>
                </a:solidFill>
                <a:latin typeface="Aptos" panose="020B0004020202020204" pitchFamily="34" charset="0"/>
              </a:rPr>
              <a:t>OpenChargeMap</a:t>
            </a:r>
            <a:r>
              <a:rPr lang="en-US" sz="2000">
                <a:solidFill>
                  <a:srgbClr val="002060"/>
                </a:solidFill>
                <a:latin typeface="Aptos" panose="020B0004020202020204" pitchFamily="34" charset="0"/>
              </a:rPr>
              <a:t> – Provides global EV charging station data.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IN" sz="2000" b="1">
                <a:solidFill>
                  <a:srgbClr val="002060"/>
                </a:solidFill>
                <a:latin typeface="Aptos" panose="020B0004020202020204" pitchFamily="34" charset="0"/>
              </a:rPr>
              <a:t>6. OpenStreetMap (OSM) </a:t>
            </a:r>
            <a:r>
              <a:rPr lang="en-IN" sz="2000">
                <a:solidFill>
                  <a:srgbClr val="002060"/>
                </a:solidFill>
                <a:latin typeface="Aptos" panose="020B0004020202020204" pitchFamily="34" charset="0"/>
              </a:rPr>
              <a:t>– Open-source mapping platform used for map rendering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1">
                <a:solidFill>
                  <a:srgbClr val="002060"/>
                </a:solidFill>
                <a:latin typeface="Aptos" panose="020B0004020202020204" pitchFamily="34" charset="0"/>
              </a:rPr>
              <a:t>7. </a:t>
            </a:r>
            <a:r>
              <a:rPr lang="en-US" sz="2000" b="1" err="1">
                <a:solidFill>
                  <a:srgbClr val="002060"/>
                </a:solidFill>
                <a:latin typeface="Aptos" panose="020B0004020202020204" pitchFamily="34" charset="0"/>
              </a:rPr>
              <a:t>GraphHopper</a:t>
            </a:r>
            <a:r>
              <a:rPr lang="en-US" sz="2000" b="1">
                <a:solidFill>
                  <a:srgbClr val="002060"/>
                </a:solidFill>
                <a:latin typeface="Aptos" panose="020B0004020202020204" pitchFamily="34" charset="0"/>
              </a:rPr>
              <a:t> API </a:t>
            </a:r>
            <a:r>
              <a:rPr lang="en-US" sz="2000">
                <a:solidFill>
                  <a:srgbClr val="002060"/>
                </a:solidFill>
                <a:latin typeface="Aptos" panose="020B0004020202020204" pitchFamily="34" charset="0"/>
              </a:rPr>
              <a:t>– Routing and navigation engine for calculating EV routes.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1">
                <a:solidFill>
                  <a:srgbClr val="002060"/>
                </a:solidFill>
                <a:latin typeface="Aptos" panose="020B0004020202020204" pitchFamily="34" charset="0"/>
              </a:rPr>
              <a:t>8. Python </a:t>
            </a:r>
            <a:r>
              <a:rPr lang="en-US" sz="2000">
                <a:solidFill>
                  <a:srgbClr val="002060"/>
                </a:solidFill>
                <a:latin typeface="Aptos" panose="020B0004020202020204" pitchFamily="34" charset="0"/>
              </a:rPr>
              <a:t> – we used python for the AI predictive Analysis</a:t>
            </a:r>
            <a:endParaRPr lang="en-IN" sz="200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IN" sz="2000" b="1">
                <a:solidFill>
                  <a:srgbClr val="002060"/>
                </a:solidFill>
                <a:latin typeface="Aptos" panose="020B0004020202020204" pitchFamily="34" charset="0"/>
              </a:rPr>
              <a:t>9.  </a:t>
            </a:r>
            <a:r>
              <a:rPr lang="en-US" sz="2000" b="1">
                <a:solidFill>
                  <a:srgbClr val="002060"/>
                </a:solidFill>
                <a:latin typeface="Aptos" panose="020B0004020202020204" pitchFamily="34" charset="0"/>
              </a:rPr>
              <a:t>Flask microframework </a:t>
            </a:r>
            <a:r>
              <a:rPr lang="en-US" sz="2000">
                <a:solidFill>
                  <a:srgbClr val="002060"/>
                </a:solidFill>
                <a:latin typeface="Aptos" panose="020B0004020202020204" pitchFamily="34" charset="0"/>
              </a:rPr>
              <a:t>– used to design dynamic backend for the website</a:t>
            </a:r>
            <a:endParaRPr lang="en-IN" sz="200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endParaRPr lang="en-IN" sz="1600">
              <a:latin typeface="Aptos" panose="020B0004020202020204" pitchFamily="34" charset="0"/>
            </a:endParaRPr>
          </a:p>
          <a:p>
            <a:endParaRPr lang="en-IN" sz="1600">
              <a:latin typeface="Aptos" panose="020B0004020202020204" pitchFamily="34" charset="0"/>
            </a:endParaRPr>
          </a:p>
          <a:p>
            <a:endParaRPr lang="en-IN" sz="1600">
              <a:latin typeface="Aptos" panose="020B0004020202020204" pitchFamily="34" charset="0"/>
            </a:endParaRPr>
          </a:p>
          <a:p>
            <a:endParaRPr lang="en-IN" sz="1600">
              <a:latin typeface="Aptos" panose="020B0004020202020204" pitchFamily="34" charset="0"/>
            </a:endParaRPr>
          </a:p>
          <a:p>
            <a:endParaRPr lang="en-IN" sz="1600">
              <a:latin typeface="Aptos" panose="020B0004020202020204" pitchFamily="34" charset="0"/>
            </a:endParaRPr>
          </a:p>
          <a:p>
            <a:endParaRPr lang="en-IN" sz="1600">
              <a:latin typeface="Aptos" panose="020B0004020202020204" pitchFamily="34" charset="0"/>
            </a:endParaRPr>
          </a:p>
          <a:p>
            <a:endParaRPr lang="en-IN" sz="1600">
              <a:latin typeface="Aptos" panose="020B0004020202020204" pitchFamily="34" charset="0"/>
            </a:endParaRPr>
          </a:p>
          <a:p>
            <a:endParaRPr lang="en-IN" sz="1600">
              <a:latin typeface="Aptos" panose="020B0004020202020204" pitchFamily="34" charset="0"/>
            </a:endParaRPr>
          </a:p>
          <a:p>
            <a:endParaRPr lang="en-IN" sz="1600">
              <a:latin typeface="Aptos" panose="020B0004020202020204" pitchFamily="34" charset="0"/>
            </a:endParaRPr>
          </a:p>
          <a:p>
            <a:endParaRPr lang="en-IN" sz="1600">
              <a:latin typeface="Aptos" panose="020B0004020202020204" pitchFamily="34" charset="0"/>
            </a:endParaRPr>
          </a:p>
          <a:p>
            <a:endParaRPr lang="en-US" sz="16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541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54683-CA15-C329-E5F1-B976E04DE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76DC08-43FE-7DEA-1C30-84B372EFA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6BA3F8B8-C75C-44FF-9C37-B9B69285372F}" type="datetime2">
              <a:rPr lang="en-IN" smtClean="0"/>
              <a:t>Thursday, 04 June 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A1C60C-C444-A31A-CAF8-6EE4A8EB6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No. </a:t>
            </a:r>
            <a:fld id="{9BA15CD2-76D6-4EFE-91D9-7087332E3318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D7BE0B-0460-317B-C537-4BF5E3F1B63B}"/>
              </a:ext>
            </a:extLst>
          </p:cNvPr>
          <p:cNvSpPr txBox="1">
            <a:spLocks/>
          </p:cNvSpPr>
          <p:nvPr/>
        </p:nvSpPr>
        <p:spPr>
          <a:xfrm>
            <a:off x="1386895" y="145670"/>
            <a:ext cx="9834426" cy="839401"/>
          </a:xfrm>
          <a:prstGeom prst="rect">
            <a:avLst/>
          </a:prstGeom>
          <a:noFill/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/>
              <a:t>Project Progress</a:t>
            </a:r>
            <a:endParaRPr lang="en-US" sz="40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73A595-AEBD-0E14-51F3-615FC87DF4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567" y="919439"/>
            <a:ext cx="7976866" cy="51397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0BCF549-86A2-BAC4-F217-6C59BDC1E729}"/>
              </a:ext>
            </a:extLst>
          </p:cNvPr>
          <p:cNvSpPr txBox="1"/>
          <p:nvPr/>
        </p:nvSpPr>
        <p:spPr>
          <a:xfrm>
            <a:off x="2249598" y="6088853"/>
            <a:ext cx="8109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Flowchart representing overall progress and architecture</a:t>
            </a:r>
          </a:p>
        </p:txBody>
      </p:sp>
    </p:spTree>
    <p:extLst>
      <p:ext uri="{BB962C8B-B14F-4D97-AF65-F5344CB8AC3E}">
        <p14:creationId xmlns:p14="http://schemas.microsoft.com/office/powerpoint/2010/main" val="3565106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17628-102B-93DA-3BD2-255D38BC6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D083B6-107B-307A-049A-C896A59D2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6BA3F8B8-C75C-44FF-9C37-B9B69285372F}" type="datetime2">
              <a:rPr lang="en-IN" smtClean="0"/>
              <a:t>Thursday, 04 June 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0CE7D-80ED-C3CF-FA05-20610BCCC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No. </a:t>
            </a:r>
            <a:fld id="{9BA15CD2-76D6-4EFE-91D9-7087332E3318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302BF9-55B9-4383-05BC-5189E61C97F4}"/>
              </a:ext>
            </a:extLst>
          </p:cNvPr>
          <p:cNvSpPr txBox="1">
            <a:spLocks/>
          </p:cNvSpPr>
          <p:nvPr/>
        </p:nvSpPr>
        <p:spPr>
          <a:xfrm>
            <a:off x="1386895" y="145670"/>
            <a:ext cx="9834426" cy="839401"/>
          </a:xfrm>
          <a:prstGeom prst="rect">
            <a:avLst/>
          </a:prstGeom>
          <a:noFill/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/>
              <a:t>Analysis of Partial Results</a:t>
            </a:r>
            <a:endParaRPr lang="en-US" sz="400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0190BFD-ACCC-D561-AFF3-A2087FAC7A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51" y="1258888"/>
            <a:ext cx="10959498" cy="4488769"/>
          </a:xfrm>
          <a:prstGeom prst="rect">
            <a:avLst/>
          </a:prstGeom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B923303-1981-0C34-3D06-3A6E28797519}"/>
              </a:ext>
            </a:extLst>
          </p:cNvPr>
          <p:cNvSpPr txBox="1"/>
          <p:nvPr/>
        </p:nvSpPr>
        <p:spPr>
          <a:xfrm>
            <a:off x="964642" y="5928527"/>
            <a:ext cx="10550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/>
              <a:t>Website Interface and features implemented</a:t>
            </a:r>
          </a:p>
        </p:txBody>
      </p:sp>
    </p:spTree>
    <p:extLst>
      <p:ext uri="{BB962C8B-B14F-4D97-AF65-F5344CB8AC3E}">
        <p14:creationId xmlns:p14="http://schemas.microsoft.com/office/powerpoint/2010/main" val="4145172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4DC64-B04B-4AB3-D8CB-B2AF9D81F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6F147B-FBDC-141E-098B-DD15CC9B5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6BA3F8B8-C75C-44FF-9C37-B9B69285372F}" type="datetime2">
              <a:rPr lang="en-IN" smtClean="0"/>
              <a:t>Thursday, 04 June 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E5F0A-4B4D-4A5B-8BDF-734456908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No. </a:t>
            </a:r>
            <a:fld id="{9BA15CD2-76D6-4EFE-91D9-7087332E3318}" type="slidenum">
              <a:rPr lang="en-IN" smtClean="0"/>
              <a:pPr/>
              <a:t>10</a:t>
            </a:fld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10EA99-0193-F9EB-CA8B-D06362BFC1BD}"/>
              </a:ext>
            </a:extLst>
          </p:cNvPr>
          <p:cNvSpPr txBox="1">
            <a:spLocks/>
          </p:cNvSpPr>
          <p:nvPr/>
        </p:nvSpPr>
        <p:spPr>
          <a:xfrm>
            <a:off x="1386895" y="145670"/>
            <a:ext cx="9834426" cy="839401"/>
          </a:xfrm>
          <a:prstGeom prst="rect">
            <a:avLst/>
          </a:prstGeom>
          <a:noFill/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/>
              <a:t>Analysis of Partial Results</a:t>
            </a:r>
            <a:endParaRPr lang="en-US" sz="4000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151DB7A1-2910-DC6E-DD9A-D53FE9CE42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9974F0FC-C308-4EA8-EC9A-78C4DE988F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0DB6B4D-7597-F123-2ED7-E0F7A1920B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9078" y="822618"/>
            <a:ext cx="5042597" cy="520639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6A37089-27DB-A9A5-F058-F86E2A226308}"/>
              </a:ext>
            </a:extLst>
          </p:cNvPr>
          <p:cNvSpPr txBox="1"/>
          <p:nvPr/>
        </p:nvSpPr>
        <p:spPr>
          <a:xfrm>
            <a:off x="1276141" y="5977873"/>
            <a:ext cx="4892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>
                <a:latin typeface="Aptos" panose="020B0004020202020204" pitchFamily="34" charset="0"/>
              </a:rPr>
              <a:t>Nearby Mercedes EV Charging Station Survey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EA5ADC-0099-75A7-93F0-984F2EF46845}"/>
              </a:ext>
            </a:extLst>
          </p:cNvPr>
          <p:cNvSpPr txBox="1"/>
          <p:nvPr/>
        </p:nvSpPr>
        <p:spPr>
          <a:xfrm>
            <a:off x="6581670" y="6029011"/>
            <a:ext cx="4639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/>
              <a:t>Project Testing and Circuit Connections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FB1F8A9-9947-0C4F-8F23-1C0E739DF9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42" y="822618"/>
            <a:ext cx="5400390" cy="515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119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6BA16-3E65-606D-6C75-585F2BD71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0EAF34-2494-01A4-FD22-62C57137C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6BA3F8B8-C75C-44FF-9C37-B9B69285372F}" type="datetime2">
              <a:rPr lang="en-IN" smtClean="0"/>
              <a:t>Thursday, 04 June 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5AE51C-1FF9-7B47-4DEA-52A07C64F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No. </a:t>
            </a:r>
            <a:fld id="{9BA15CD2-76D6-4EFE-91D9-7087332E3318}" type="slidenum">
              <a:rPr lang="en-IN" smtClean="0"/>
              <a:pPr/>
              <a:t>11</a:t>
            </a:fld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BACB55-596C-EDCE-7F5F-62A7F5B99662}"/>
              </a:ext>
            </a:extLst>
          </p:cNvPr>
          <p:cNvSpPr txBox="1">
            <a:spLocks/>
          </p:cNvSpPr>
          <p:nvPr/>
        </p:nvSpPr>
        <p:spPr>
          <a:xfrm>
            <a:off x="1386895" y="145670"/>
            <a:ext cx="9834426" cy="839401"/>
          </a:xfrm>
          <a:prstGeom prst="rect">
            <a:avLst/>
          </a:prstGeom>
          <a:noFill/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/>
              <a:t>Analysis of Partial Results</a:t>
            </a:r>
            <a:endParaRPr lang="en-US" sz="40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56AE63-382B-D77F-FA65-8BB0D20F5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02063"/>
            <a:ext cx="12192000" cy="5429849"/>
          </a:xfrm>
        </p:spPr>
        <p:txBody>
          <a:bodyPr/>
          <a:lstStyle/>
          <a:p>
            <a:r>
              <a:rPr lang="en-IN" sz="2400">
                <a:latin typeface="Aptos" panose="020B0004020202020204" pitchFamily="34" charset="0"/>
              </a:rPr>
              <a:t>We successfully sent data like </a:t>
            </a:r>
            <a:r>
              <a:rPr lang="en-IN" sz="2400" b="1">
                <a:latin typeface="Aptos" panose="020B0004020202020204" pitchFamily="34" charset="0"/>
              </a:rPr>
              <a:t>occupancy, location </a:t>
            </a:r>
            <a:r>
              <a:rPr lang="en-IN" sz="2400">
                <a:latin typeface="Aptos" panose="020B0004020202020204" pitchFamily="34" charset="0"/>
              </a:rPr>
              <a:t>from ESP-32 to a Real time data base called </a:t>
            </a:r>
            <a:r>
              <a:rPr lang="en-IN" sz="2400" b="1">
                <a:latin typeface="Aptos" panose="020B0004020202020204" pitchFamily="34" charset="0"/>
              </a:rPr>
              <a:t>FireBase</a:t>
            </a:r>
            <a:r>
              <a:rPr lang="en-IN" sz="2400">
                <a:latin typeface="Aptos" panose="020B0004020202020204" pitchFamily="34" charset="0"/>
              </a:rPr>
              <a:t>.</a:t>
            </a:r>
          </a:p>
          <a:p>
            <a:r>
              <a:rPr lang="en-IN" sz="2400">
                <a:latin typeface="Aptos" panose="020B0004020202020204" pitchFamily="34" charset="0"/>
              </a:rPr>
              <a:t>Successfully created a Circuit which </a:t>
            </a:r>
            <a:r>
              <a:rPr lang="en-IN" sz="2400" b="1">
                <a:latin typeface="Aptos" panose="020B0004020202020204" pitchFamily="34" charset="0"/>
              </a:rPr>
              <a:t>timely switch </a:t>
            </a:r>
            <a:r>
              <a:rPr lang="en-IN" sz="2400">
                <a:latin typeface="Aptos" panose="020B0004020202020204" pitchFamily="34" charset="0"/>
              </a:rPr>
              <a:t>between </a:t>
            </a:r>
            <a:r>
              <a:rPr lang="en-IN" sz="2400" b="1">
                <a:latin typeface="Aptos" panose="020B0004020202020204" pitchFamily="34" charset="0"/>
              </a:rPr>
              <a:t>Solar and battery grid</a:t>
            </a:r>
            <a:r>
              <a:rPr lang="en-IN" sz="2400">
                <a:latin typeface="Aptos" panose="020B0004020202020204" pitchFamily="34" charset="0"/>
              </a:rPr>
              <a:t> to charge an EV car</a:t>
            </a:r>
          </a:p>
          <a:p>
            <a:r>
              <a:rPr lang="en-IN" sz="2400">
                <a:latin typeface="Aptos" panose="020B0004020202020204" pitchFamily="34" charset="0"/>
              </a:rPr>
              <a:t>Safely done the circuit to prevent any kind of shocks or short circuits</a:t>
            </a:r>
          </a:p>
          <a:p>
            <a:r>
              <a:rPr lang="en-IN" sz="2400">
                <a:latin typeface="Aptos" panose="020B0004020202020204" pitchFamily="34" charset="0"/>
              </a:rPr>
              <a:t>A Website using the </a:t>
            </a:r>
            <a:r>
              <a:rPr lang="en-IN" sz="2400" b="1">
                <a:latin typeface="Aptos" panose="020B0004020202020204" pitchFamily="34" charset="0"/>
              </a:rPr>
              <a:t>API</a:t>
            </a:r>
            <a:r>
              <a:rPr lang="en-IN" sz="2400">
                <a:latin typeface="Aptos" panose="020B0004020202020204" pitchFamily="34" charset="0"/>
              </a:rPr>
              <a:t> calls like </a:t>
            </a:r>
            <a:r>
              <a:rPr lang="en-IN" sz="2400" b="1">
                <a:latin typeface="Aptos" panose="020B0004020202020204" pitchFamily="34" charset="0"/>
              </a:rPr>
              <a:t>OpenchargeMap, OpenStreetMap, GraphHopper</a:t>
            </a:r>
            <a:r>
              <a:rPr lang="en-IN" sz="2400">
                <a:latin typeface="Aptos" panose="020B0004020202020204" pitchFamily="34" charset="0"/>
              </a:rPr>
              <a:t> to </a:t>
            </a:r>
            <a:r>
              <a:rPr lang="en-IN" sz="2400" b="1">
                <a:latin typeface="Aptos" panose="020B0004020202020204" pitchFamily="34" charset="0"/>
              </a:rPr>
              <a:t>display the map </a:t>
            </a:r>
            <a:r>
              <a:rPr lang="en-IN" sz="2400">
                <a:latin typeface="Aptos" panose="020B0004020202020204" pitchFamily="34" charset="0"/>
              </a:rPr>
              <a:t>and </a:t>
            </a:r>
            <a:r>
              <a:rPr lang="en-IN" sz="2400" b="1">
                <a:latin typeface="Aptos" panose="020B0004020202020204" pitchFamily="34" charset="0"/>
              </a:rPr>
              <a:t>locate nearby charging stations</a:t>
            </a:r>
            <a:r>
              <a:rPr lang="en-IN" sz="2400">
                <a:latin typeface="Aptos" panose="020B0004020202020204" pitchFamily="34" charset="0"/>
              </a:rPr>
              <a:t> and </a:t>
            </a:r>
            <a:r>
              <a:rPr lang="en-IN" sz="2400" b="1">
                <a:latin typeface="Aptos" panose="020B0004020202020204" pitchFamily="34" charset="0"/>
              </a:rPr>
              <a:t>provide routes </a:t>
            </a:r>
            <a:r>
              <a:rPr lang="en-IN" sz="2400">
                <a:latin typeface="Aptos" panose="020B0004020202020204" pitchFamily="34" charset="0"/>
              </a:rPr>
              <a:t>to them respectively</a:t>
            </a:r>
          </a:p>
          <a:p>
            <a:r>
              <a:rPr lang="en-IN" sz="2400">
                <a:latin typeface="Aptos" panose="020B0004020202020204" pitchFamily="34" charset="0"/>
              </a:rPr>
              <a:t>Used </a:t>
            </a:r>
            <a:r>
              <a:rPr lang="en-IN" sz="2400" b="1">
                <a:latin typeface="Aptos" panose="020B0004020202020204" pitchFamily="34" charset="0"/>
              </a:rPr>
              <a:t>servo Moter </a:t>
            </a:r>
            <a:r>
              <a:rPr lang="en-IN" sz="2400">
                <a:latin typeface="Aptos" panose="020B0004020202020204" pitchFamily="34" charset="0"/>
              </a:rPr>
              <a:t>and </a:t>
            </a:r>
            <a:r>
              <a:rPr lang="en-IN" sz="2400" b="1">
                <a:latin typeface="Aptos" panose="020B0004020202020204" pitchFamily="34" charset="0"/>
              </a:rPr>
              <a:t>LDR Modules </a:t>
            </a:r>
            <a:r>
              <a:rPr lang="en-IN" sz="2400">
                <a:latin typeface="Aptos" panose="020B0004020202020204" pitchFamily="34" charset="0"/>
              </a:rPr>
              <a:t>to tilt towards sunlight to maximise output and efficiency</a:t>
            </a:r>
          </a:p>
          <a:p>
            <a:r>
              <a:rPr lang="en-IN" sz="2400">
                <a:latin typeface="Aptos" panose="020B0004020202020204" pitchFamily="34" charset="0"/>
              </a:rPr>
              <a:t>Monitor hourly Traffic on stations and identify Peak hour areas</a:t>
            </a:r>
          </a:p>
          <a:p>
            <a:r>
              <a:rPr lang="en-IN" sz="2400">
                <a:latin typeface="Aptos" panose="020B0004020202020204" pitchFamily="34" charset="0"/>
              </a:rPr>
              <a:t>Added extra feature to locate 5 nearest restaurants</a:t>
            </a:r>
          </a:p>
          <a:p>
            <a:endParaRPr lang="en-IN"/>
          </a:p>
          <a:p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22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F7CB4-6837-8F46-AE45-532D980A0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E806D0-9B89-C26C-864C-096BD725C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4998" y="985071"/>
            <a:ext cx="6997002" cy="5102306"/>
          </a:xfrm>
        </p:spPr>
        <p:txBody>
          <a:bodyPr>
            <a:normAutofit/>
          </a:bodyPr>
          <a:lstStyle/>
          <a:p>
            <a:r>
              <a:rPr lang="en-US" sz="1800" b="1">
                <a:latin typeface="Aptos" panose="020B0004020202020204" pitchFamily="34" charset="0"/>
              </a:rPr>
              <a:t>Working Solar Tracker Prototype</a:t>
            </a:r>
            <a:r>
              <a:rPr lang="en-US" sz="1800">
                <a:latin typeface="Aptos" panose="020B0004020202020204" pitchFamily="34" charset="0"/>
              </a:rPr>
              <a:t>: A small-scale model of a solar panel that automatically follows the sun. This proves the logic works before adding it to large, commercial stations to get more power.</a:t>
            </a:r>
          </a:p>
          <a:p>
            <a:r>
              <a:rPr lang="en-US" sz="1800" b="1">
                <a:latin typeface="Aptos" panose="020B0004020202020204" pitchFamily="34" charset="0"/>
              </a:rPr>
              <a:t>AI Hotspot Predictor</a:t>
            </a:r>
            <a:r>
              <a:rPr lang="en-US" sz="1800">
                <a:latin typeface="Aptos" panose="020B0004020202020204" pitchFamily="34" charset="0"/>
              </a:rPr>
              <a:t>: A trained machine learning model that looks at past charging habits and local Bengaluru traffic to predict exactly when and where chargers will be busiest.</a:t>
            </a:r>
          </a:p>
          <a:p>
            <a:r>
              <a:rPr lang="en-US" sz="1800" b="1">
                <a:latin typeface="Aptos" panose="020B0004020202020204" pitchFamily="34" charset="0"/>
              </a:rPr>
              <a:t>Universal Smart Charger Add-on</a:t>
            </a:r>
            <a:r>
              <a:rPr lang="en-US" sz="1800">
                <a:latin typeface="Aptos" panose="020B0004020202020204" pitchFamily="34" charset="0"/>
              </a:rPr>
              <a:t>: A custom-built device that can be attached to any standard, older EV charger to instantly track if it is empty and connect it to our live map.</a:t>
            </a:r>
          </a:p>
          <a:p>
            <a:r>
              <a:rPr lang="en-US" sz="1800" b="1">
                <a:latin typeface="Aptos" panose="020B0004020202020204" pitchFamily="34" charset="0"/>
              </a:rPr>
              <a:t>Smart Search Interface</a:t>
            </a:r>
            <a:r>
              <a:rPr lang="en-US" sz="1800">
                <a:latin typeface="Aptos" panose="020B0004020202020204" pitchFamily="34" charset="0"/>
              </a:rPr>
              <a:t>: A system that understands normal human language, allowing drivers to find charging stations using simple, conversational commands instead of clicking through menus.</a:t>
            </a:r>
          </a:p>
          <a:p>
            <a:r>
              <a:rPr lang="en-US" sz="1800" b="1">
                <a:latin typeface="Aptos" panose="020B0004020202020204" pitchFamily="34" charset="0"/>
              </a:rPr>
              <a:t>Smooth Hybrid Power Switch</a:t>
            </a:r>
            <a:r>
              <a:rPr lang="en-US" sz="1800">
                <a:latin typeface="Aptos" panose="020B0004020202020204" pitchFamily="34" charset="0"/>
              </a:rPr>
              <a:t>: An upgraded electrical setup that safely mixes solar power with the main grid. It switches between the two instantly so the car's charging session never drops</a:t>
            </a:r>
          </a:p>
          <a:p>
            <a:endParaRPr lang="en-US" sz="1800"/>
          </a:p>
          <a:p>
            <a:pPr marL="0" indent="0">
              <a:buNone/>
            </a:pPr>
            <a:endParaRPr lang="en-IN" sz="1800"/>
          </a:p>
          <a:p>
            <a:endParaRPr lang="en-IN" sz="1800"/>
          </a:p>
          <a:p>
            <a:endParaRPr lang="en-IN" sz="1800"/>
          </a:p>
          <a:p>
            <a:endParaRPr lang="en-IN" sz="14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317859-075D-E2ED-B5D6-EF932D325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6BA3F8B8-C75C-44FF-9C37-B9B69285372F}" type="datetime2">
              <a:rPr lang="en-IN" smtClean="0"/>
              <a:t>Thursday, 04 June 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002ED-4DED-4F6C-3CAC-B492AB747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No. </a:t>
            </a:r>
            <a:fld id="{9BA15CD2-76D6-4EFE-91D9-7087332E3318}" type="slidenum">
              <a:rPr lang="en-IN" smtClean="0"/>
              <a:pPr/>
              <a:t>12</a:t>
            </a:fld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205A08-EB43-A89D-82BE-7DCCB5E8DF18}"/>
              </a:ext>
            </a:extLst>
          </p:cNvPr>
          <p:cNvSpPr txBox="1">
            <a:spLocks/>
          </p:cNvSpPr>
          <p:nvPr/>
        </p:nvSpPr>
        <p:spPr>
          <a:xfrm>
            <a:off x="1386895" y="145670"/>
            <a:ext cx="9834426" cy="839401"/>
          </a:xfrm>
          <a:prstGeom prst="rect">
            <a:avLst/>
          </a:prstGeom>
          <a:noFill/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/>
              <a:t>Deliverables and Outcomes</a:t>
            </a:r>
            <a:endParaRPr lang="en-US" sz="4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EBE17C-7C21-2B6B-5A39-349757FB68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78" t="4895" r="505" b="2098"/>
          <a:stretch>
            <a:fillRect/>
          </a:stretch>
        </p:blipFill>
        <p:spPr>
          <a:xfrm>
            <a:off x="328054" y="1846699"/>
            <a:ext cx="4800071" cy="3378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649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8CF87-C853-8E73-1B89-7EFCCF7B9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732D01-E83F-0978-876D-3786B9669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6BA3F8B8-C75C-44FF-9C37-B9B69285372F}" type="datetime2">
              <a:rPr lang="en-IN" smtClean="0"/>
              <a:t>Thursday, 04 June 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623C8-1705-96F5-E7C3-BA31E3B5F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No. </a:t>
            </a:r>
            <a:fld id="{9BA15CD2-76D6-4EFE-91D9-7087332E3318}" type="slidenum">
              <a:rPr lang="en-IN" smtClean="0"/>
              <a:pPr/>
              <a:t>13</a:t>
            </a:fld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C0189A-0A68-5C05-CEFD-C081685EDF88}"/>
              </a:ext>
            </a:extLst>
          </p:cNvPr>
          <p:cNvSpPr txBox="1">
            <a:spLocks/>
          </p:cNvSpPr>
          <p:nvPr/>
        </p:nvSpPr>
        <p:spPr>
          <a:xfrm>
            <a:off x="1386895" y="145670"/>
            <a:ext cx="9834426" cy="839401"/>
          </a:xfrm>
          <a:prstGeom prst="rect">
            <a:avLst/>
          </a:prstGeom>
          <a:noFill/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/>
              <a:t>Future Work (Remaining Tasks)</a:t>
            </a:r>
            <a:endParaRPr lang="en-US" sz="400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40867F7-24EA-CEAC-C57E-8D9FD220A9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4813" y="1846981"/>
            <a:ext cx="11495571" cy="3741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ptos" panose="020B0004020202020204" pitchFamily="34" charset="0"/>
              </a:rPr>
              <a:t>Integrate AI Chatbot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ptos" panose="020B0004020202020204" pitchFamily="34" charset="0"/>
              </a:rPr>
              <a:t> for user support, station suggestions, and troubleshooting.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ptos" panose="020B0004020202020204" pitchFamily="34" charset="0"/>
              </a:rPr>
              <a:t>Refine UI/UX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ptos" panose="020B0004020202020204" pitchFamily="34" charset="0"/>
              </a:rPr>
              <a:t> to create a smoother, more intuitive user experience across web and mobile.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ptos" panose="020B0004020202020204" pitchFamily="34" charset="0"/>
              </a:rPr>
              <a:t>Expand IoT capabilities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ptos" panose="020B0004020202020204" pitchFamily="34" charset="0"/>
              </a:rPr>
              <a:t> by adding more sensors (current, temperature, fault detection) and improving real-time data accuracy.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ptos" panose="020B0004020202020204" pitchFamily="34" charset="0"/>
              </a:rPr>
              <a:t>Optimize routing algorithms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ptos" panose="020B0004020202020204" pitchFamily="34" charset="0"/>
              </a:rPr>
              <a:t> to include traffic, charger type, and energy consumption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ptos" panose="020B0004020202020204" pitchFamily="34" charset="0"/>
              </a:rPr>
              <a:t>Add user accounts &amp; personalization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ptos" panose="020B0004020202020204" pitchFamily="34" charset="0"/>
              </a:rPr>
              <a:t> for saved locations, charging history, and preferences.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ptos" panose="020B0004020202020204" pitchFamily="34" charset="0"/>
              </a:rPr>
              <a:t>Scale hardware prototype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ptos" panose="020B0004020202020204" pitchFamily="34" charset="0"/>
              </a:rPr>
              <a:t> into a full solar charging module with enclosure and durability improvements.</a:t>
            </a:r>
          </a:p>
        </p:txBody>
      </p:sp>
    </p:spTree>
    <p:extLst>
      <p:ext uri="{BB962C8B-B14F-4D97-AF65-F5344CB8AC3E}">
        <p14:creationId xmlns:p14="http://schemas.microsoft.com/office/powerpoint/2010/main" val="951296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0C888C-4575-335B-FA8F-F2C2631CF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811" y="1117600"/>
            <a:ext cx="11842377" cy="5229605"/>
          </a:xfrm>
        </p:spPr>
        <p:txBody>
          <a:bodyPr>
            <a:normAutofit/>
          </a:bodyPr>
          <a:lstStyle/>
          <a:p>
            <a:r>
              <a:rPr lang="en-US" sz="2200">
                <a:latin typeface="Aptos" panose="020B0004020202020204" pitchFamily="34" charset="0"/>
              </a:rPr>
              <a:t>Significant progress was achieved in Phase-II, including a functional web platform, real-time API integrations, and a working IoT smart charging prototype using ESP32, solar power, and sensors — all aligning strongly with the project’s objective of creating an intelligent EV charging ecosystem.</a:t>
            </a:r>
          </a:p>
          <a:p>
            <a:r>
              <a:rPr lang="en-US" sz="2200">
                <a:latin typeface="Aptos" panose="020B0004020202020204" pitchFamily="34" charset="0"/>
              </a:rPr>
              <a:t>This phase establishes the foundation for Phase-III by enabling accurate station detection, routing, and live hardware communication, opening the path for advanced features like an </a:t>
            </a:r>
            <a:r>
              <a:rPr lang="en-US" sz="2200" b="1">
                <a:latin typeface="Aptos" panose="020B0004020202020204" pitchFamily="34" charset="0"/>
              </a:rPr>
              <a:t>AI-powered chatbot, refined UI/UX, and expanded IoT data insights.</a:t>
            </a:r>
          </a:p>
          <a:p>
            <a:r>
              <a:rPr lang="en-US" sz="2200">
                <a:latin typeface="Aptos" panose="020B0004020202020204" pitchFamily="34" charset="0"/>
              </a:rPr>
              <a:t>The progress made was supported by effective collaboration, the use of industry-standard tools, and contributions from team members, mentors, and open-source communities (Firebase, OCM, OSM, GraphHopper).</a:t>
            </a:r>
          </a:p>
          <a:p>
            <a:r>
              <a:rPr lang="en-US" sz="2200">
                <a:latin typeface="Aptos" panose="020B0004020202020204" pitchFamily="34" charset="0"/>
              </a:rPr>
              <a:t>Key takeaways from Phase-II include a deeper understanding of IoT–cloud integration, scalable API workflows, and user-centered system design — all of which will guide the continued enhancement of the platform in Phase-III.</a:t>
            </a:r>
            <a:endParaRPr lang="en-IN" sz="2200">
              <a:latin typeface="Aptos" panose="020B00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6AF141-6363-0CAE-30CA-9F94BDD92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6BA3F8B8-C75C-44FF-9C37-B9B69285372F}" type="datetime2">
              <a:rPr lang="en-IN" smtClean="0"/>
              <a:t>Thursday, 04 June 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892E3-118C-9755-60CE-3C3C2B20E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14</a:t>
            </a:fld>
            <a:endParaRPr lang="en-IN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93DD6B8-40A1-00CF-B2F1-ED5905311783}"/>
              </a:ext>
            </a:extLst>
          </p:cNvPr>
          <p:cNvSpPr txBox="1">
            <a:spLocks/>
          </p:cNvSpPr>
          <p:nvPr/>
        </p:nvSpPr>
        <p:spPr>
          <a:xfrm>
            <a:off x="2284362" y="145670"/>
            <a:ext cx="8146571" cy="83940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237272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EB4DCF-16CB-8396-87A1-E37AFD896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6BA3F8B8-C75C-44FF-9C37-B9B69285372F}" type="datetime2">
              <a:rPr lang="en-IN" smtClean="0"/>
              <a:t>Thursday, 04 June 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7BC478-F0AA-1301-724C-04C081C8A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15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390A6D-369A-D728-5F7B-C3DF82DD90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1096" y="1605964"/>
            <a:ext cx="5889812" cy="3646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120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1189</Words>
  <Application>Microsoft Office PowerPoint</Application>
  <PresentationFormat>Widescreen</PresentationFormat>
  <Paragraphs>160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Bookman Old Style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Shanmukha</dc:creator>
  <cp:lastModifiedBy>FARHAN HASHMI</cp:lastModifiedBy>
  <cp:revision>3</cp:revision>
  <cp:lastPrinted>2024-02-20T07:16:26Z</cp:lastPrinted>
  <dcterms:created xsi:type="dcterms:W3CDTF">2021-06-02T13:10:21Z</dcterms:created>
  <dcterms:modified xsi:type="dcterms:W3CDTF">2026-06-04T09:30:00Z</dcterms:modified>
</cp:coreProperties>
</file>